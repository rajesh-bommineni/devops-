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1.xml" ContentType="application/vnd.openxmlformats-officedocument.presentationml.slide+xml"/>
  <Override PartName="/ppt/slides/slide12.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6" r:id="rId17"/>
    <p:sldId id="261" r:id="rId7"/>
    <p:sldId id="262" r:id="rId8"/>
    <p:sldId id="263" r:id="rId9"/>
    <p:sldId id="264" r:id="rId10"/>
    <p:sldId id="267" r:id="rId18"/>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6c820609-4e3a-0b3f-d2b9-11272ae0b9d1}">
          <p14:sldIdLst>
            <p14:sldId id="256"/>
          </p14:sldIdLst>
        </p14:section>
        <p14:section name="Concepts" id="{41082678-1491-5991-e528-c11971126794}">
          <p14:sldIdLst>
            <p14:sldId id="257"/>
            <p14:sldId id="258"/>
          </p14:sldIdLst>
        </p14:section>
        <p14:section name="Banking case" id="{7333e578-8f8d-bb87-00da-28b0b4503f4e}">
          <p14:sldIdLst>
            <p14:sldId id="259"/>
            <p14:sldId id="260"/>
          </p14:sldIdLst>
        </p14:section>
        <p14:section name="Economics" id="{e8499410-e34a-d232-30e8-8215f9b937f1}">
          <p14:sldIdLst>
            <p14:sldId id="261"/>
            <p14:sldId id="262"/>
          </p14:sldIdLst>
        </p14:section>
        <p14:section name="Verdict" id="{2109cee5-466a-c888-ec84-c768926d96c8}">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  <Relationship Id="rId17" Type="http://schemas.openxmlformats.org/officeDocument/2006/relationships/slide" Target="slides/slide11.xml"/>
  <Relationship Id="rId18" Type="http://schemas.openxmlformats.org/officeDocument/2006/relationships/slide" Target="slides/slide12.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3"/>
                </a:solidFill>
                <a:latin typeface="+mn-lt"/>
              </a:defRPr>
            </a:pPr>
            <a:r>
              <a:rPr sz="1400" b="0" i="0" u="none" strike="noStrike">
                <a:solidFill>
                  <a:srgbClr val="1F2933"/>
                </a:solidFill>
                <a:latin typeface="+mn-lt"/>
              </a:rPr>
              <a:t>Cost index, illustrative only (not actual data)</a:t>
            </a:r>
          </a:p>
        </c:rich>
      </c:tx>
      <c:layout/>
      <c:overlay val="0"/>
    </c:title>
    <c:autoTitleDeleted val="0"/>
    <c:plotArea>
      <c:layout/>
      <c:barChart>
        <c:barDir val="col"/>
        <c:grouping val="clustered"/>
        <c:varyColors val="0"/>
        <c:ser>
          <c:idx val="0"/>
          <c:order val="0"/>
          <c:tx>
            <c:strRef>
              <c:f>Sheet1!$B$1</c:f>
              <c:strCache>
                <c:ptCount val="1"/>
                <c:pt idx="0">
                  <c:v>Pure RAG</c:v>
                </c:pt>
              </c:strCache>
            </c:strRef>
          </c:tx>
          <c:spPr>
            <a:solidFill>
              <a:srgbClr val="B94A1E"/>
            </a:solidFill>
            <a:effectLst/>
          </c:spPr>
          <c:invertIfNegative val="0"/>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cat>
            <c:multiLvlStrRef>
              <c:f>Sheet1!$A$2:$A$4</c:f>
              <c:multiLvlStrCache>
                <c:ptCount val="3"/>
                <c:lvl>
                  <c:pt idx="0">
                    <c:v>Vector DB / infra</c:v>
                  </c:pt>
                  <c:pt idx="1">
                    <c:v>Query tokens</c:v>
                  </c:pt>
                  <c:pt idx="2">
                    <c:v>Curation and review</c:v>
                  </c:pt>
                </c:lvl>
              </c:multiLvlStrCache>
            </c:multiLvlStrRef>
          </c:cat>
          <c:val>
            <c:numRef>
              <c:f>Sheet1!$B$2:$B$4</c:f>
              <c:numCache>
                <c:formatCode>General</c:formatCode>
                <c:ptCount val="3"/>
                <c:pt idx="0">
                  <c:v>30</c:v>
                </c:pt>
                <c:pt idx="1">
                  <c:v>50</c:v>
                </c:pt>
                <c:pt idx="2">
                  <c:v>6</c:v>
                </c:pt>
              </c:numCache>
            </c:numRef>
          </c:val>
        </c:ser>
        <c:ser>
          <c:idx val="1"/>
          <c:order val="1"/>
          <c:tx>
            <c:strRef>
              <c:f>Sheet1!$C$1</c:f>
              <c:strCache>
                <c:ptCount val="1"/>
                <c:pt idx="0">
                  <c:v>Hybrid (OKF core)</c:v>
                </c:pt>
              </c:strCache>
            </c:strRef>
          </c:tx>
          <c:spPr>
            <a:solidFill>
              <a:srgbClr val="0F766E"/>
            </a:solidFill>
            <a:effectLst/>
          </c:spPr>
          <c:invertIfNegative val="0"/>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cat>
            <c:multiLvlStrRef>
              <c:f>Sheet1!$A$2:$A$4</c:f>
              <c:multiLvlStrCache>
                <c:ptCount val="3"/>
                <c:lvl>
                  <c:pt idx="0">
                    <c:v>Vector DB / infra</c:v>
                  </c:pt>
                  <c:pt idx="1">
                    <c:v>Query tokens</c:v>
                  </c:pt>
                  <c:pt idx="2">
                    <c:v>Curation and review</c:v>
                  </c:pt>
                </c:lvl>
              </c:multiLvlStrCache>
            </c:multiLvlStrRef>
          </c:cat>
          <c:val>
            <c:numRef>
              <c:f>Sheet1!$C$2:$C$4</c:f>
              <c:numCache>
                <c:formatCode>General</c:formatCode>
                <c:ptCount val="3"/>
                <c:pt idx="0">
                  <c:v>6</c:v>
                </c:pt>
                <c:pt idx="1">
                  <c:v>30</c:v>
                </c:pt>
                <c:pt idx="2">
                  <c:v>24</c:v>
                </c:pt>
              </c:numCache>
            </c:numRef>
          </c:val>
        </c:ser>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6350" cap="flat">
              <a:solidFill>
                <a:srgbClr val="D5DE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A98A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Banks already run AI on policy documents, and wrong answers carry regulatory risk.
Today's default memory layer is vector RAG, and a credible alternative has appeared in Google's Open Knowledge Format.
We compare both, price them, and land on a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re-discovers knowledge on every query. OKF stores knowledge that is already synthesized.
OKF is a directory of interlinked markdown files with no SDK or runtime required, and it formalizes Karpathy's LLM Wiki pattern into an interoperable, vendor-neutral format (v0.1 spec from Google Cloud).
Keep this slide to the definition. Cost and risk come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RAG, the model assembles context at question time from whatever chunks score highest.
In OKF, the model does the assembly work in advance and humans review the result.
The shift from query-time work to curation-time work drives the cost story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scenario is realistic because rules are spread across documents and amended over time. (Figures and document names are illustrative.)
Correctness depends on which rule is current and how rules interact, not on finding one paragraph.
Both architectures face the same question. Watch how each handles the amendment.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fails quietly when old and new chunks both score well.
OKF resolves the conflict once, at curation, with an auditable page history.
The risk transfers to the curation process, so governance becomes the control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Vector DB licensing and hosting costs mostly disappear for the OKF core.
Complex questions in RAG often trigger multi-step retrieval loops, and each loop burns tokens. Curated pages cut this.
Curation is a new line item. Reviewers and recompile cycles can erase the savings if the policy corpus changes constantly.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Savings concentrate where query volume is high and the policy base changes slowly.
For rarely asked questions, curation cost per page may exceed retrieval cost.
The values on this chart are placeholders. Replace them with your finance team's token and review-hour rates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Regulators value traceability, and markdown in version control gives it cheaply.
A confident but wrong wiki page is more dangerous than a missed retrieval, so review gates are mandatory.
The format standardizes the artifact, not the curation workflow. You still design the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OKF where precision, auditability and repeat volume matter.
Use RAG where the corpus is large, messy or rarely queried.
This captures most of the accuracy and cost gain without betting the bank on a v0.1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8412480" cy="21945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4206240"/>
            <a:ext cx="7863840" cy="91440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0584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Google OKF vs. RAG  |  Commercial Banking</a:t>
            </a:r>
            <a:endParaRPr lang="en-US" sz="10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058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Google OKF vs. RAG  |  Commercial Banking</a:t>
            </a:r>
            <a:endParaRPr lang="en-US" sz="10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r large"/>
          <p:cNvSpPr/>
          <p:nvPr/>
        </p:nvSpPr>
        <p:spPr>
          <a:xfrm>
            <a:off x="8778240" y="822960"/>
            <a:ext cx="4206240" cy="4206240"/>
          </a:xfrm>
          <a:prstGeom prst="ellipse">
            <a:avLst/>
          </a:prstGeom>
          <a:solidFill>
            <a:schemeClr val="accent1">
              <a:alpha val="45000"/>
            </a:schemeClr>
          </a:solidFill>
          <a:ln w="12700">
            <a:solidFill>
              <a:schemeClr val="accent1"/>
            </a:solidFill>
            <a:prstDash val="solid"/>
          </a:ln>
        </p:spPr>
      </p:sp>
      <p:sp>
        <p:nvSpPr>
          <p:cNvPr id="3" name="Decor gold"/>
          <p:cNvSpPr/>
          <p:nvPr/>
        </p:nvSpPr>
        <p:spPr>
          <a:xfrm>
            <a:off x="10241280" y="4023360"/>
            <a:ext cx="1737360" cy="1737360"/>
          </a:xfrm>
          <a:prstGeom prst="ellipse">
            <a:avLst/>
          </a:prstGeom>
          <a:solidFill>
            <a:schemeClr val="accent2">
              <a:alpha val="80000"/>
            </a:schemeClr>
          </a:solidFill>
          <a:ln w="12700">
            <a:solidFill>
              <a:schemeClr val="accent2"/>
            </a:solidFill>
            <a:prstDash val="solid"/>
          </a:ln>
        </p:spPr>
      </p:sp>
      <p:sp>
        <p:nvSpPr>
          <p:cNvPr id="4" name="Text 2"/>
          <p:cNvSpPr txBox="1"/>
          <p:nvPr/>
        </p:nvSpPr>
        <p:spPr>
          <a:xfrm>
            <a:off x="731520" y="1097280"/>
            <a:ext cx="7315200" cy="365760"/>
          </a:xfrm>
          <a:prstGeom prst="rect">
            <a:avLst/>
          </a:prstGeom>
          <a:noFill/>
          <a:ln/>
        </p:spPr>
        <p:txBody>
          <a:bodyPr wrap="square" lIns="0" tIns="0" rIns="0" bIns="0" rtlCol="0" anchor="t"/>
          <a:lstStyle/>
          <a:p>
            <a:pPr indent="0" marL="0">
              <a:buNone/>
            </a:pPr>
            <a:r>
              <a:rPr lang="en-US" sz="1400" b="1" spc="300" kern="0" dirty="0">
                <a:solidFill>
                  <a:schemeClr val="accent2"/>
                </a:solidFill>
              </a:rPr>
              <a:t>BOARD BRIEFING  |  AI ARCHITECTURE</a:t>
            </a:r>
            <a:endParaRPr lang="en-US" sz="1400" dirty="0"/>
          </a:p>
        </p:txBody>
      </p:sp>
      <p:sp>
        <p:nvSpPr>
          <p:cNvPr id="5" name="Text 0"/>
          <p:cNvSpPr/>
          <p:nvPr>
            <p:ph idx="100" type="title" hasCustomPrompt="1"/>
          </p:nvPr>
        </p:nvSpPr>
        <p:spPr>
          <a:xfrm>
            <a:off x="731520" y="1737360"/>
            <a:ext cx="8412480" cy="2194560"/>
          </a:xfrm>
          <a:prstGeom prst="rect">
            <a:avLst/>
          </a:prstGeom>
          <a:noFill/>
          <a:ln/>
        </p:spPr>
        <p:txBody>
          <a:bodyPr wrap="square" lIns="0" tIns="0" rIns="0" bIns="0" rtlCol="0" anchor="b"/>
          <a:lstStyle/>
          <a:p>
            <a:pPr algn="l" indent="0" marL="0">
              <a:buNone/>
            </a:pPr>
            <a:r>
              <a:rPr lang="en-US" sz="4400" b="1" dirty="0">
                <a:solidFill>
                  <a:schemeClr val="bg1"/>
                </a:solidFill>
              </a:rPr>
              <a:t>Google OKF vs. RAG: Is This the Future of AI Memory?</a:t>
            </a:r>
            <a:endParaRPr lang="en-US" sz="4400" dirty="0"/>
          </a:p>
        </p:txBody>
      </p:sp>
      <p:sp>
        <p:nvSpPr>
          <p:cNvPr id="6" name="Text 0"/>
          <p:cNvSpPr/>
          <p:nvPr>
            <p:ph idx="101" type="body" hasCustomPrompt="1"/>
          </p:nvPr>
        </p:nvSpPr>
        <p:spPr>
          <a:xfrm>
            <a:off x="731520" y="4206240"/>
            <a:ext cx="7863840" cy="914400"/>
          </a:xfrm>
          <a:prstGeom prst="rect">
            <a:avLst/>
          </a:prstGeom>
          <a:noFill/>
          <a:ln/>
        </p:spPr>
        <p:txBody>
          <a:bodyPr wrap="square" lIns="0" tIns="0" rIns="0" bIns="0" rtlCol="0" anchor="t"/>
          <a:lstStyle/>
          <a:p>
            <a:pPr algn="l" indent="0" marL="0">
              <a:buNone/>
            </a:pPr>
            <a:r>
              <a:rPr lang="en-US" sz="2000" dirty="0">
                <a:solidFill>
                  <a:schemeClr val="bg2"/>
                </a:solidFill>
              </a:rPr>
              <a:t>Commercial banking scenario &amp; enterprise policy verification</a:t>
            </a:r>
            <a:endParaRPr lang="en-US" sz="2000" dirty="0"/>
          </a:p>
        </p:txBody>
      </p:sp>
      <p:sp>
        <p:nvSpPr>
          <p:cNvPr id="20" name="Presenter and date"/>
          <p:cNvSpPr txBox="1"/>
          <p:nvPr/>
        </p:nvSpPr>
        <p:spPr>
          <a:xfrm>
            <a:off x="731520" y="5394960"/>
            <a:ext cx="7863840" cy="731520"/>
          </a:xfrm>
          <a:prstGeom prst="rect">
            <a:avLst/>
          </a:prstGeom>
          <a:noFill/>
          <a:ln/>
        </p:spPr>
        <p:txBody>
          <a:bodyPr wrap="square" lIns="0" tIns="0" rIns="0" bIns="0" rtlCol="0" anchor="t"/>
          <a:lstStyle/>
          <a:p>
            <a:pPr indent="0" marL="0">
              <a:spcAft>
                <a:spcPts val="400"/>
              </a:spcAft>
              <a:buNone/>
            </a:pPr>
            <a:r>
              <a:rPr lang="en-US" sz="1600" b="1" dirty="0">
                <a:solidFill>
                  <a:schemeClr val="accent2"/>
                </a:solidFill>
              </a:rPr>
              <a:t>Presented by: </a:t>
            </a:r>
            <a:r>
              <a:rPr lang="en-US" sz="1600" dirty="0">
                <a:solidFill>
                  <a:schemeClr val="bg1"/>
                </a:solidFill>
              </a:rPr>
              <a:t>Rajesh Reddy Bommineni</a:t>
            </a:r>
            <a:endParaRPr lang="en-US" sz="1600" dirty="0"/>
          </a:p>
          <a:p>
            <a:pPr indent="0" marL="0">
              <a:buNone/>
            </a:pPr>
            <a:r>
              <a:rPr lang="en-US" sz="1600" b="1" dirty="0">
                <a:solidFill>
                  <a:schemeClr val="accent2"/>
                </a:solidFill>
              </a:rPr>
              <a:t>Date: </a:t>
            </a:r>
            <a:r>
              <a:rPr lang="en-US" sz="1600" dirty="0">
                <a:solidFill>
                  <a:schemeClr val="bg1"/>
                </a:solidFill>
              </a:rPr>
              <a:t>31/10/2026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05840"/>
          </a:xfrm>
          <a:prstGeom prst="rect">
            <a:avLst/>
          </a:prstGeom>
          <a:noFill/>
          <a:ln/>
        </p:spPr>
        <p:txBody>
          <a:bodyPr wrap="square" lIns="0" tIns="0" rIns="0" bIns="0" rtlCol="0" anchor="ctr"/>
          <a:lstStyle/>
          <a:p>
            <a:pPr algn="l" indent="0" marL="0">
              <a:buNone/>
            </a:pPr>
            <a:r>
              <a:rPr lang="en-US" sz="3400" b="1" dirty="0">
                <a:solidFill>
                  <a:schemeClr val="tx2"/>
                </a:solidFill>
              </a:rPr>
              <a:t>Two Philosophies of AI Memory</a:t>
            </a:r>
            <a:endParaRPr lang="en-US" sz="3400" dirty="0"/>
          </a:p>
        </p:txBody>
      </p:sp>
      <p:sp>
        <p:nvSpPr>
          <p:cNvPr id="3" name="Card Vector RAG"/>
          <p:cNvSpPr/>
          <p:nvPr/>
        </p:nvSpPr>
        <p:spPr>
          <a:xfrm>
            <a:off x="548640" y="1554480"/>
            <a:ext cx="5394960" cy="3931920"/>
          </a:xfrm>
          <a:prstGeom prst="roundRect">
            <a:avLst>
              <a:gd name="adj" fmla="val 2791"/>
            </a:avLst>
          </a:prstGeom>
          <a:solidFill>
            <a:schemeClr val="bg2"/>
          </a:solidFill>
          <a:ln w="12700">
            <a:solidFill>
              <a:schemeClr val="bg2"/>
            </a:solidFill>
            <a:prstDash val="solid"/>
          </a:ln>
        </p:spPr>
      </p:sp>
      <p:sp>
        <p:nvSpPr>
          <p:cNvPr id="4" name="Badge Vector RAG"/>
          <p:cNvSpPr/>
          <p:nvPr/>
        </p:nvSpPr>
        <p:spPr>
          <a:xfrm>
            <a:off x="822960" y="1828800"/>
            <a:ext cx="548640" cy="548640"/>
          </a:xfrm>
          <a:prstGeom prst="ellipse">
            <a:avLst/>
          </a:prstGeom>
          <a:solidFill>
            <a:schemeClr val="accent3"/>
          </a:solidFill>
          <a:ln w="12700">
            <a:solidFill>
              <a:schemeClr val="accent3"/>
            </a:solidFill>
            <a:prstDash val="solid"/>
          </a:ln>
        </p:spPr>
      </p:sp>
      <p:sp>
        <p:nvSpPr>
          <p:cNvPr id="5" name="Text 3"/>
          <p:cNvSpPr txBox="1"/>
          <p:nvPr/>
        </p:nvSpPr>
        <p:spPr>
          <a:xfrm>
            <a:off x="822960" y="18288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554480" y="1828800"/>
            <a:ext cx="4114800" cy="32004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Vector RAG</a:t>
            </a:r>
            <a:endParaRPr lang="en-US" sz="2200" dirty="0"/>
          </a:p>
        </p:txBody>
      </p:sp>
      <p:sp>
        <p:nvSpPr>
          <p:cNvPr id="7" name="Text 5"/>
          <p:cNvSpPr txBox="1"/>
          <p:nvPr/>
        </p:nvSpPr>
        <p:spPr>
          <a:xfrm>
            <a:off x="1554480" y="2194560"/>
            <a:ext cx="4114800" cy="274320"/>
          </a:xfrm>
          <a:prstGeom prst="rect">
            <a:avLst/>
          </a:prstGeom>
          <a:noFill/>
          <a:ln/>
        </p:spPr>
        <p:txBody>
          <a:bodyPr wrap="square" lIns="0" tIns="0" rIns="0" bIns="0" rtlCol="0" anchor="t"/>
          <a:lstStyle/>
          <a:p>
            <a:pPr indent="0" marL="0">
              <a:buNone/>
            </a:pPr>
            <a:r>
              <a:rPr lang="en-US" sz="1400" i="1" dirty="0">
                <a:solidFill>
                  <a:schemeClr val="accent3"/>
                </a:solidFill>
              </a:rPr>
              <a:t>Search the haystack</a:t>
            </a:r>
            <a:endParaRPr lang="en-US" sz="1400" dirty="0"/>
          </a:p>
        </p:txBody>
      </p:sp>
      <p:sp>
        <p:nvSpPr>
          <p:cNvPr id="8" name="Text 6"/>
          <p:cNvSpPr txBox="1"/>
          <p:nvPr/>
        </p:nvSpPr>
        <p:spPr>
          <a:xfrm>
            <a:off x="914400" y="2926080"/>
            <a:ext cx="4663440" cy="2377440"/>
          </a:xfrm>
          <a:prstGeom prst="rect">
            <a:avLst/>
          </a:prstGeom>
          <a:noFill/>
          <a:ln/>
        </p:spPr>
        <p:txBody>
          <a:bodyPr wrap="square" lIns="0" tIns="0" rIns="0" bIns="0" rtlCol="0" anchor="t"/>
          <a:lstStyle/>
          <a:p>
            <a:pPr indent="0" marL="0">
              <a:spcAft>
                <a:spcPts val="1600"/>
              </a:spcAft>
              <a:buNone/>
            </a:pPr>
            <a:r>
              <a:rPr lang="en-US" sz="1800" b="1" dirty="0">
                <a:solidFill>
                  <a:schemeClr val="accent3"/>
                </a:solidFill>
              </a:rPr>
              <a:t>Method: </a:t>
            </a:r>
            <a:pPr indent="0" marL="0">
              <a:spcAft>
                <a:spcPts val="1600"/>
              </a:spcAft>
              <a:buNone/>
            </a:pPr>
            <a:r>
              <a:rPr lang="en-US" sz="1800" dirty="0">
                <a:solidFill>
                  <a:schemeClr val="tx1"/>
                </a:solidFill>
              </a:rPr>
              <a:t>Chunk, embed, retrieve at query time</a:t>
            </a:r>
            <a:endParaRPr lang="en-US" sz="1800" dirty="0"/>
          </a:p>
          <a:p>
            <a:pPr indent="0" marL="0">
              <a:spcAft>
                <a:spcPts val="1600"/>
              </a:spcAft>
              <a:buNone/>
            </a:pPr>
            <a:r>
              <a:rPr lang="en-US" sz="1800" b="1" dirty="0">
                <a:solidFill>
                  <a:schemeClr val="accent3"/>
                </a:solidFill>
              </a:rPr>
              <a:t>Storage: </a:t>
            </a:r>
            <a:pPr indent="0" marL="0">
              <a:spcAft>
                <a:spcPts val="1600"/>
              </a:spcAft>
              <a:buNone/>
            </a:pPr>
            <a:r>
              <a:rPr lang="en-US" sz="1800" dirty="0">
                <a:solidFill>
                  <a:schemeClr val="tx1"/>
                </a:solidFill>
              </a:rPr>
              <a:t>Vector DB plus embeddings</a:t>
            </a:r>
            <a:endParaRPr lang="en-US" sz="1800" dirty="0"/>
          </a:p>
          <a:p>
            <a:pPr indent="0" marL="0">
              <a:spcAft>
                <a:spcPts val="1600"/>
              </a:spcAft>
              <a:buNone/>
            </a:pPr>
            <a:r>
              <a:rPr lang="en-US" sz="1800" b="1" dirty="0">
                <a:solidFill>
                  <a:schemeClr val="accent3"/>
                </a:solidFill>
              </a:rPr>
              <a:t>Unit: </a:t>
            </a:r>
            <a:pPr indent="0" marL="0">
              <a:spcAft>
                <a:spcPts val="1600"/>
              </a:spcAft>
              <a:buNone/>
            </a:pPr>
            <a:r>
              <a:rPr lang="en-US" sz="1800" dirty="0">
                <a:solidFill>
                  <a:schemeClr val="tx1"/>
                </a:solidFill>
              </a:rPr>
              <a:t>Text fragments</a:t>
            </a:r>
            <a:endParaRPr lang="en-US" sz="1800" dirty="0"/>
          </a:p>
        </p:txBody>
      </p:sp>
      <p:sp>
        <p:nvSpPr>
          <p:cNvPr id="9" name="Card OKF / LLM Wiki"/>
          <p:cNvSpPr/>
          <p:nvPr/>
        </p:nvSpPr>
        <p:spPr>
          <a:xfrm>
            <a:off x="6245352" y="1554480"/>
            <a:ext cx="5394960" cy="3931920"/>
          </a:xfrm>
          <a:prstGeom prst="roundRect">
            <a:avLst>
              <a:gd name="adj" fmla="val 2791"/>
            </a:avLst>
          </a:prstGeom>
          <a:solidFill>
            <a:schemeClr val="bg2"/>
          </a:solidFill>
          <a:ln w="12700">
            <a:solidFill>
              <a:schemeClr val="bg2"/>
            </a:solidFill>
            <a:prstDash val="solid"/>
          </a:ln>
        </p:spPr>
      </p:sp>
      <p:sp>
        <p:nvSpPr>
          <p:cNvPr id="10" name="Badge OKF / LLM Wiki"/>
          <p:cNvSpPr/>
          <p:nvPr/>
        </p:nvSpPr>
        <p:spPr>
          <a:xfrm>
            <a:off x="6519672" y="1828800"/>
            <a:ext cx="548640" cy="548640"/>
          </a:xfrm>
          <a:prstGeom prst="ellipse">
            <a:avLst/>
          </a:prstGeom>
          <a:solidFill>
            <a:schemeClr val="accent1"/>
          </a:solidFill>
          <a:ln w="12700">
            <a:solidFill>
              <a:schemeClr val="accent1"/>
            </a:solidFill>
            <a:prstDash val="solid"/>
          </a:ln>
        </p:spPr>
      </p:sp>
      <p:sp>
        <p:nvSpPr>
          <p:cNvPr id="11" name="Text 9"/>
          <p:cNvSpPr txBox="1"/>
          <p:nvPr/>
        </p:nvSpPr>
        <p:spPr>
          <a:xfrm>
            <a:off x="6519672" y="18288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7251192" y="1828800"/>
            <a:ext cx="4114800" cy="32004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OKF / LLM Wiki</a:t>
            </a:r>
            <a:endParaRPr lang="en-US" sz="2200" dirty="0"/>
          </a:p>
        </p:txBody>
      </p:sp>
      <p:sp>
        <p:nvSpPr>
          <p:cNvPr id="13" name="Text 11"/>
          <p:cNvSpPr txBox="1"/>
          <p:nvPr/>
        </p:nvSpPr>
        <p:spPr>
          <a:xfrm>
            <a:off x="7251192" y="2194560"/>
            <a:ext cx="4114800" cy="274320"/>
          </a:xfrm>
          <a:prstGeom prst="rect">
            <a:avLst/>
          </a:prstGeom>
          <a:noFill/>
          <a:ln/>
        </p:spPr>
        <p:txBody>
          <a:bodyPr wrap="square" lIns="0" tIns="0" rIns="0" bIns="0" rtlCol="0" anchor="t"/>
          <a:lstStyle/>
          <a:p>
            <a:pPr indent="0" marL="0">
              <a:buNone/>
            </a:pPr>
            <a:r>
              <a:rPr lang="en-US" sz="1400" i="1" dirty="0">
                <a:solidFill>
                  <a:schemeClr val="accent1"/>
                </a:solidFill>
              </a:rPr>
              <a:t>Organize the haystack</a:t>
            </a:r>
            <a:endParaRPr lang="en-US" sz="1400" dirty="0"/>
          </a:p>
        </p:txBody>
      </p:sp>
      <p:sp>
        <p:nvSpPr>
          <p:cNvPr id="14" name="Text 12"/>
          <p:cNvSpPr txBox="1"/>
          <p:nvPr/>
        </p:nvSpPr>
        <p:spPr>
          <a:xfrm>
            <a:off x="6611112" y="2926080"/>
            <a:ext cx="4663440" cy="2377440"/>
          </a:xfrm>
          <a:prstGeom prst="rect">
            <a:avLst/>
          </a:prstGeom>
          <a:noFill/>
          <a:ln/>
        </p:spPr>
        <p:txBody>
          <a:bodyPr wrap="square" lIns="0" tIns="0" rIns="0" bIns="0" rtlCol="0" anchor="t"/>
          <a:lstStyle/>
          <a:p>
            <a:pPr indent="0" marL="0">
              <a:spcAft>
                <a:spcPts val="1600"/>
              </a:spcAft>
              <a:buNone/>
            </a:pPr>
            <a:r>
              <a:rPr lang="en-US" sz="1800" b="1" dirty="0">
                <a:solidFill>
                  <a:schemeClr val="accent1"/>
                </a:solidFill>
              </a:rPr>
              <a:t>Method: </a:t>
            </a:r>
            <a:pPr indent="0" marL="0">
              <a:spcAft>
                <a:spcPts val="1600"/>
              </a:spcAft>
              <a:buNone/>
            </a:pPr>
            <a:r>
              <a:rPr lang="en-US" sz="1800" dirty="0">
                <a:solidFill>
                  <a:schemeClr val="tx1"/>
                </a:solidFill>
              </a:rPr>
              <a:t>Curate once, read many times</a:t>
            </a:r>
            <a:endParaRPr lang="en-US" sz="1800" dirty="0"/>
          </a:p>
          <a:p>
            <a:pPr indent="0" marL="0">
              <a:spcAft>
                <a:spcPts val="1600"/>
              </a:spcAft>
              <a:buNone/>
            </a:pPr>
            <a:r>
              <a:rPr lang="en-US" sz="1800" b="1" dirty="0">
                <a:solidFill>
                  <a:schemeClr val="accent1"/>
                </a:solidFill>
              </a:rPr>
              <a:t>Storage: </a:t>
            </a:r>
            <a:pPr indent="0" marL="0">
              <a:spcAft>
                <a:spcPts val="1600"/>
              </a:spcAft>
              <a:buNone/>
            </a:pPr>
            <a:r>
              <a:rPr lang="en-US" sz="1800" dirty="0">
                <a:solidFill>
                  <a:schemeClr val="tx1"/>
                </a:solidFill>
              </a:rPr>
              <a:t>Markdown files with YAML frontmatter</a:t>
            </a:r>
            <a:endParaRPr lang="en-US" sz="1800" dirty="0"/>
          </a:p>
          <a:p>
            <a:pPr indent="0" marL="0">
              <a:spcAft>
                <a:spcPts val="1600"/>
              </a:spcAft>
              <a:buNone/>
            </a:pPr>
            <a:r>
              <a:rPr lang="en-US" sz="1800" b="1" dirty="0">
                <a:solidFill>
                  <a:schemeClr val="accent1"/>
                </a:solidFill>
              </a:rPr>
              <a:t>Unit: </a:t>
            </a:r>
            <a:pPr indent="0" marL="0">
              <a:spcAft>
                <a:spcPts val="1600"/>
              </a:spcAft>
              <a:buNone/>
            </a:pPr>
            <a:r>
              <a:rPr lang="en-US" sz="1800" dirty="0">
                <a:solidFill>
                  <a:schemeClr val="tx1"/>
                </a:solidFill>
              </a:rPr>
              <a:t>Linked concept pages</a:t>
            </a:r>
            <a:endParaRPr lang="en-US" sz="1800" dirty="0"/>
          </a:p>
        </p:txBody>
      </p:sp>
      <p:sp>
        <p:nvSpPr>
          <p:cNvPr id="15" name="Versus"/>
          <p:cNvSpPr/>
          <p:nvPr/>
        </p:nvSpPr>
        <p:spPr>
          <a:xfrm>
            <a:off x="5788152" y="3246120"/>
            <a:ext cx="612648" cy="612648"/>
          </a:xfrm>
          <a:prstGeom prst="ellipse">
            <a:avLst/>
          </a:prstGeom>
          <a:solidFill>
            <a:schemeClr val="accent2"/>
          </a:solidFill>
          <a:ln w="12700">
            <a:solidFill>
              <a:schemeClr val="accent2"/>
            </a:solidFill>
            <a:prstDash val="solid"/>
          </a:ln>
        </p:spPr>
      </p:sp>
      <p:sp>
        <p:nvSpPr>
          <p:cNvPr id="16" name="Text 14"/>
          <p:cNvSpPr txBox="1"/>
          <p:nvPr/>
        </p:nvSpPr>
        <p:spPr>
          <a:xfrm>
            <a:off x="5788152" y="3246120"/>
            <a:ext cx="612648" cy="612648"/>
          </a:xfrm>
          <a:prstGeom prst="rect">
            <a:avLst/>
          </a:prstGeom>
          <a:noFill/>
          <a:ln/>
        </p:spPr>
        <p:txBody>
          <a:bodyPr wrap="square" lIns="0" tIns="0" rIns="0" bIns="0" rtlCol="0" anchor="ctr"/>
          <a:lstStyle/>
          <a:p>
            <a:pPr algn="ctr" indent="0" marL="0">
              <a:buNone/>
            </a:pPr>
            <a:r>
              <a:rPr lang="en-US" sz="1600" b="1" dirty="0">
                <a:solidFill>
                  <a:schemeClr val="tx2"/>
                </a:solidFill>
              </a:rPr>
              <a:t>vs</a:t>
            </a:r>
            <a:endParaRPr lang="en-US" sz="1600" dirty="0"/>
          </a:p>
        </p:txBody>
      </p:sp>
      <p:sp>
        <p:nvSpPr>
          <p:cNvPr id="17" name="Core difference"/>
          <p:cNvSpPr/>
          <p:nvPr/>
        </p:nvSpPr>
        <p:spPr>
          <a:xfrm>
            <a:off x="548640" y="5669280"/>
            <a:ext cx="11091672" cy="548640"/>
          </a:xfrm>
          <a:prstGeom prst="roundRect">
            <a:avLst>
              <a:gd name="adj" fmla="val 20000"/>
            </a:avLst>
          </a:prstGeom>
          <a:solidFill>
            <a:schemeClr val="tx2"/>
          </a:solidFill>
          <a:ln w="12700">
            <a:solidFill>
              <a:schemeClr val="tx2"/>
            </a:solidFill>
            <a:prstDash val="solid"/>
          </a:ln>
        </p:spPr>
      </p:sp>
      <p:sp>
        <p:nvSpPr>
          <p:cNvPr id="18" name="Text 16"/>
          <p:cNvSpPr txBox="1"/>
          <p:nvPr/>
        </p:nvSpPr>
        <p:spPr>
          <a:xfrm>
            <a:off x="731520" y="5669280"/>
            <a:ext cx="10698480" cy="548640"/>
          </a:xfrm>
          <a:prstGeom prst="rect">
            <a:avLst/>
          </a:prstGeom>
          <a:noFill/>
          <a:ln/>
        </p:spPr>
        <p:txBody>
          <a:bodyPr wrap="square" lIns="0" tIns="0" rIns="0" bIns="0" rtlCol="0" anchor="ctr"/>
          <a:lstStyle/>
          <a:p>
            <a:pPr indent="0" marL="0">
              <a:buNone/>
            </a:pPr>
            <a:r>
              <a:rPr lang="en-US" sz="1600" b="1" dirty="0">
                <a:solidFill>
                  <a:schemeClr val="bg1"/>
                </a:solidFill>
              </a:rPr>
              <a:t>Core difference: RAG re-discovers knowledge every query; OKF stores it already synthesized</a:t>
            </a:r>
            <a:endParaRPr lang="en-US" sz="16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05840"/>
          </a:xfrm>
          <a:prstGeom prst="rect">
            <a:avLst/>
          </a:prstGeom>
          <a:noFill/>
          <a:ln/>
        </p:spPr>
        <p:txBody>
          <a:bodyPr wrap="square" lIns="0" tIns="0" rIns="0" bIns="0" rtlCol="0" anchor="ctr"/>
          <a:lstStyle/>
          <a:p>
            <a:pPr algn="l" indent="0" marL="0">
              <a:buNone/>
            </a:pPr>
            <a:r>
              <a:rPr lang="en-US" sz="3400" b="1" dirty="0">
                <a:solidFill>
                  <a:schemeClr val="tx2"/>
                </a:solidFill>
              </a:rPr>
              <a:t>How Each Architecture Works</a:t>
            </a:r>
            <a:endParaRPr lang="en-US" sz="3400" dirty="0"/>
          </a:p>
        </p:txBody>
      </p:sp>
      <p:sp>
        <p:nvSpPr>
          <p:cNvPr id="3" name="Label RAG"/>
          <p:cNvSpPr/>
          <p:nvPr/>
        </p:nvSpPr>
        <p:spPr>
          <a:xfrm>
            <a:off x="548640" y="1645920"/>
            <a:ext cx="1371600" cy="868680"/>
          </a:xfrm>
          <a:prstGeom prst="roundRect">
            <a:avLst>
              <a:gd name="adj" fmla="val 12632"/>
            </a:avLst>
          </a:prstGeom>
          <a:solidFill>
            <a:schemeClr val="accent3"/>
          </a:solidFill>
          <a:ln w="12700">
            <a:solidFill>
              <a:schemeClr val="accent3"/>
            </a:solidFill>
            <a:prstDash val="solid"/>
          </a:ln>
        </p:spPr>
      </p:sp>
      <p:sp>
        <p:nvSpPr>
          <p:cNvPr id="4" name="Text 2"/>
          <p:cNvSpPr txBox="1"/>
          <p:nvPr/>
        </p:nvSpPr>
        <p:spPr>
          <a:xfrm>
            <a:off x="548640" y="1645920"/>
            <a:ext cx="1371600" cy="868680"/>
          </a:xfrm>
          <a:prstGeom prst="rect">
            <a:avLst/>
          </a:prstGeom>
          <a:noFill/>
          <a:ln/>
        </p:spPr>
        <p:txBody>
          <a:bodyPr wrap="square" lIns="0" tIns="0" rIns="0" bIns="0" rtlCol="0" anchor="ctr"/>
          <a:lstStyle/>
          <a:p>
            <a:pPr algn="ctr" indent="0" marL="0">
              <a:buNone/>
            </a:pPr>
            <a:r>
              <a:rPr lang="en-US" sz="1800" b="1" dirty="0">
                <a:solidFill>
                  <a:schemeClr val="bg1"/>
                </a:solidFill>
              </a:rPr>
              <a:t>RAG</a:t>
            </a:r>
            <a:endParaRPr lang="en-US" sz="1800" dirty="0"/>
          </a:p>
        </p:txBody>
      </p:sp>
      <p:sp>
        <p:nvSpPr>
          <p:cNvPr id="5" name="Step RAG 1"/>
          <p:cNvSpPr/>
          <p:nvPr/>
        </p:nvSpPr>
        <p:spPr>
          <a:xfrm>
            <a:off x="2194560" y="1645920"/>
            <a:ext cx="1325880" cy="868680"/>
          </a:xfrm>
          <a:prstGeom prst="roundRect">
            <a:avLst>
              <a:gd name="adj" fmla="val 12632"/>
            </a:avLst>
          </a:prstGeom>
          <a:solidFill>
            <a:schemeClr val="bg2"/>
          </a:solidFill>
          <a:ln w="12700">
            <a:solidFill>
              <a:schemeClr val="bg2"/>
            </a:solidFill>
            <a:prstDash val="solid"/>
          </a:ln>
        </p:spPr>
      </p:sp>
      <p:sp>
        <p:nvSpPr>
          <p:cNvPr id="6" name="Text 4"/>
          <p:cNvSpPr txBox="1"/>
          <p:nvPr/>
        </p:nvSpPr>
        <p:spPr>
          <a:xfrm>
            <a:off x="2240280" y="1645920"/>
            <a:ext cx="1234440" cy="868680"/>
          </a:xfrm>
          <a:prstGeom prst="rect">
            <a:avLst/>
          </a:prstGeom>
          <a:noFill/>
          <a:ln/>
        </p:spPr>
        <p:txBody>
          <a:bodyPr wrap="square" lIns="0" tIns="0" rIns="0" bIns="0" rtlCol="0" anchor="ctr"/>
          <a:lstStyle/>
          <a:p>
            <a:pPr algn="ctr" indent="0" marL="0">
              <a:buNone/>
            </a:pPr>
            <a:r>
              <a:rPr lang="en-US" sz="1400" b="1" dirty="0">
                <a:solidFill>
                  <a:schemeClr val="tx2"/>
                </a:solidFill>
              </a:rPr>
              <a:t>Docs</a:t>
            </a:r>
            <a:endParaRPr lang="en-US" sz="1400" dirty="0"/>
          </a:p>
        </p:txBody>
      </p:sp>
      <p:sp>
        <p:nvSpPr>
          <p:cNvPr id="7" name="Shape 5"/>
          <p:cNvSpPr/>
          <p:nvPr/>
        </p:nvSpPr>
        <p:spPr>
          <a:xfrm>
            <a:off x="3557016" y="2080260"/>
            <a:ext cx="219456" cy="0"/>
          </a:xfrm>
          <a:prstGeom prst="line">
            <a:avLst/>
          </a:prstGeom>
          <a:noFill/>
          <a:ln w="25400">
            <a:solidFill>
              <a:schemeClr val="accent3"/>
            </a:solidFill>
            <a:prstDash val="solid"/>
            <a:tailEnd type="triangle"/>
          </a:ln>
        </p:spPr>
      </p:sp>
      <p:sp>
        <p:nvSpPr>
          <p:cNvPr id="8" name="Step RAG 2"/>
          <p:cNvSpPr/>
          <p:nvPr/>
        </p:nvSpPr>
        <p:spPr>
          <a:xfrm>
            <a:off x="3813048" y="1645920"/>
            <a:ext cx="1325880" cy="868680"/>
          </a:xfrm>
          <a:prstGeom prst="roundRect">
            <a:avLst>
              <a:gd name="adj" fmla="val 12632"/>
            </a:avLst>
          </a:prstGeom>
          <a:solidFill>
            <a:schemeClr val="bg2"/>
          </a:solidFill>
          <a:ln w="12700">
            <a:solidFill>
              <a:schemeClr val="bg2"/>
            </a:solidFill>
            <a:prstDash val="solid"/>
          </a:ln>
        </p:spPr>
      </p:sp>
      <p:sp>
        <p:nvSpPr>
          <p:cNvPr id="9" name="Text 7"/>
          <p:cNvSpPr txBox="1"/>
          <p:nvPr/>
        </p:nvSpPr>
        <p:spPr>
          <a:xfrm>
            <a:off x="3858768" y="1645920"/>
            <a:ext cx="1234440" cy="868680"/>
          </a:xfrm>
          <a:prstGeom prst="rect">
            <a:avLst/>
          </a:prstGeom>
          <a:noFill/>
          <a:ln/>
        </p:spPr>
        <p:txBody>
          <a:bodyPr wrap="square" lIns="0" tIns="0" rIns="0" bIns="0" rtlCol="0" anchor="ctr"/>
          <a:lstStyle/>
          <a:p>
            <a:pPr algn="ctr" indent="0" marL="0">
              <a:buNone/>
            </a:pPr>
            <a:r>
              <a:rPr lang="en-US" sz="1400" b="1" dirty="0">
                <a:solidFill>
                  <a:schemeClr val="tx2"/>
                </a:solidFill>
              </a:rPr>
              <a:t>Chunks</a:t>
            </a:r>
            <a:endParaRPr lang="en-US" sz="1400" dirty="0"/>
          </a:p>
        </p:txBody>
      </p:sp>
      <p:sp>
        <p:nvSpPr>
          <p:cNvPr id="10" name="Shape 8"/>
          <p:cNvSpPr/>
          <p:nvPr/>
        </p:nvSpPr>
        <p:spPr>
          <a:xfrm>
            <a:off x="5175504" y="2080260"/>
            <a:ext cx="219456" cy="0"/>
          </a:xfrm>
          <a:prstGeom prst="line">
            <a:avLst/>
          </a:prstGeom>
          <a:noFill/>
          <a:ln w="25400">
            <a:solidFill>
              <a:schemeClr val="accent3"/>
            </a:solidFill>
            <a:prstDash val="solid"/>
            <a:tailEnd type="triangle"/>
          </a:ln>
        </p:spPr>
      </p:sp>
      <p:sp>
        <p:nvSpPr>
          <p:cNvPr id="11" name="Step RAG 3"/>
          <p:cNvSpPr/>
          <p:nvPr/>
        </p:nvSpPr>
        <p:spPr>
          <a:xfrm>
            <a:off x="5431536" y="1645920"/>
            <a:ext cx="1325880" cy="868680"/>
          </a:xfrm>
          <a:prstGeom prst="roundRect">
            <a:avLst>
              <a:gd name="adj" fmla="val 12632"/>
            </a:avLst>
          </a:prstGeom>
          <a:solidFill>
            <a:schemeClr val="bg2"/>
          </a:solidFill>
          <a:ln w="12700">
            <a:solidFill>
              <a:schemeClr val="bg2"/>
            </a:solidFill>
            <a:prstDash val="solid"/>
          </a:ln>
        </p:spPr>
      </p:sp>
      <p:sp>
        <p:nvSpPr>
          <p:cNvPr id="12" name="Text 10"/>
          <p:cNvSpPr txBox="1"/>
          <p:nvPr/>
        </p:nvSpPr>
        <p:spPr>
          <a:xfrm>
            <a:off x="5477256" y="1645920"/>
            <a:ext cx="1234440" cy="868680"/>
          </a:xfrm>
          <a:prstGeom prst="rect">
            <a:avLst/>
          </a:prstGeom>
          <a:noFill/>
          <a:ln/>
        </p:spPr>
        <p:txBody>
          <a:bodyPr wrap="square" lIns="0" tIns="0" rIns="0" bIns="0" rtlCol="0" anchor="ctr"/>
          <a:lstStyle/>
          <a:p>
            <a:pPr algn="ctr" indent="0" marL="0">
              <a:buNone/>
            </a:pPr>
            <a:r>
              <a:rPr lang="en-US" sz="1400" b="1" dirty="0">
                <a:solidFill>
                  <a:schemeClr val="tx2"/>
                </a:solidFill>
              </a:rPr>
              <a:t>Embeddings</a:t>
            </a:r>
            <a:endParaRPr lang="en-US" sz="1400" dirty="0"/>
          </a:p>
        </p:txBody>
      </p:sp>
      <p:sp>
        <p:nvSpPr>
          <p:cNvPr id="13" name="Shape 11"/>
          <p:cNvSpPr/>
          <p:nvPr/>
        </p:nvSpPr>
        <p:spPr>
          <a:xfrm>
            <a:off x="6793992" y="2080260"/>
            <a:ext cx="219456" cy="0"/>
          </a:xfrm>
          <a:prstGeom prst="line">
            <a:avLst/>
          </a:prstGeom>
          <a:noFill/>
          <a:ln w="25400">
            <a:solidFill>
              <a:schemeClr val="accent3"/>
            </a:solidFill>
            <a:prstDash val="solid"/>
            <a:tailEnd type="triangle"/>
          </a:ln>
        </p:spPr>
      </p:sp>
      <p:sp>
        <p:nvSpPr>
          <p:cNvPr id="14" name="Step RAG 4"/>
          <p:cNvSpPr/>
          <p:nvPr/>
        </p:nvSpPr>
        <p:spPr>
          <a:xfrm>
            <a:off x="7050024" y="1645920"/>
            <a:ext cx="1325880" cy="868680"/>
          </a:xfrm>
          <a:prstGeom prst="roundRect">
            <a:avLst>
              <a:gd name="adj" fmla="val 12632"/>
            </a:avLst>
          </a:prstGeom>
          <a:solidFill>
            <a:schemeClr val="bg2"/>
          </a:solidFill>
          <a:ln w="12700">
            <a:solidFill>
              <a:schemeClr val="bg2"/>
            </a:solidFill>
            <a:prstDash val="solid"/>
          </a:ln>
        </p:spPr>
      </p:sp>
      <p:sp>
        <p:nvSpPr>
          <p:cNvPr id="15" name="Text 13"/>
          <p:cNvSpPr txBox="1"/>
          <p:nvPr/>
        </p:nvSpPr>
        <p:spPr>
          <a:xfrm>
            <a:off x="7095744" y="1645920"/>
            <a:ext cx="1234440" cy="868680"/>
          </a:xfrm>
          <a:prstGeom prst="rect">
            <a:avLst/>
          </a:prstGeom>
          <a:noFill/>
          <a:ln/>
        </p:spPr>
        <p:txBody>
          <a:bodyPr wrap="square" lIns="0" tIns="0" rIns="0" bIns="0" rtlCol="0" anchor="ctr"/>
          <a:lstStyle/>
          <a:p>
            <a:pPr algn="ctr" indent="0" marL="0">
              <a:buNone/>
            </a:pPr>
            <a:r>
              <a:rPr lang="en-US" sz="1400" b="1" dirty="0">
                <a:solidFill>
                  <a:schemeClr val="tx2"/>
                </a:solidFill>
              </a:rPr>
              <a:t>Vector DB</a:t>
            </a:r>
            <a:endParaRPr lang="en-US" sz="1400" dirty="0"/>
          </a:p>
        </p:txBody>
      </p:sp>
      <p:sp>
        <p:nvSpPr>
          <p:cNvPr id="16" name="Shape 14"/>
          <p:cNvSpPr/>
          <p:nvPr/>
        </p:nvSpPr>
        <p:spPr>
          <a:xfrm>
            <a:off x="8412480" y="2080260"/>
            <a:ext cx="219456" cy="0"/>
          </a:xfrm>
          <a:prstGeom prst="line">
            <a:avLst/>
          </a:prstGeom>
          <a:noFill/>
          <a:ln w="25400">
            <a:solidFill>
              <a:schemeClr val="accent3"/>
            </a:solidFill>
            <a:prstDash val="solid"/>
            <a:tailEnd type="triangle"/>
          </a:ln>
        </p:spPr>
      </p:sp>
      <p:sp>
        <p:nvSpPr>
          <p:cNvPr id="17" name="Step RAG 5"/>
          <p:cNvSpPr/>
          <p:nvPr/>
        </p:nvSpPr>
        <p:spPr>
          <a:xfrm>
            <a:off x="8668512" y="1645920"/>
            <a:ext cx="1325880" cy="868680"/>
          </a:xfrm>
          <a:prstGeom prst="roundRect">
            <a:avLst>
              <a:gd name="adj" fmla="val 12632"/>
            </a:avLst>
          </a:prstGeom>
          <a:solidFill>
            <a:schemeClr val="bg2"/>
          </a:solidFill>
          <a:ln w="12700">
            <a:solidFill>
              <a:schemeClr val="bg2"/>
            </a:solidFill>
            <a:prstDash val="solid"/>
          </a:ln>
        </p:spPr>
      </p:sp>
      <p:sp>
        <p:nvSpPr>
          <p:cNvPr id="18" name="Text 16"/>
          <p:cNvSpPr txBox="1"/>
          <p:nvPr/>
        </p:nvSpPr>
        <p:spPr>
          <a:xfrm>
            <a:off x="8714232" y="1645920"/>
            <a:ext cx="1234440" cy="868680"/>
          </a:xfrm>
          <a:prstGeom prst="rect">
            <a:avLst/>
          </a:prstGeom>
          <a:noFill/>
          <a:ln/>
        </p:spPr>
        <p:txBody>
          <a:bodyPr wrap="square" lIns="0" tIns="0" rIns="0" bIns="0" rtlCol="0" anchor="ctr"/>
          <a:lstStyle/>
          <a:p>
            <a:pPr algn="ctr" indent="0" marL="0">
              <a:buNone/>
            </a:pPr>
            <a:r>
              <a:rPr lang="en-US" sz="1400" b="1" dirty="0">
                <a:solidFill>
                  <a:schemeClr val="tx2"/>
                </a:solidFill>
              </a:rPr>
              <a:t>Top-K</a:t>
            </a:r>
            <a:endParaRPr lang="en-US" sz="1400" dirty="0"/>
          </a:p>
        </p:txBody>
      </p:sp>
      <p:sp>
        <p:nvSpPr>
          <p:cNvPr id="19" name="Shape 17"/>
          <p:cNvSpPr/>
          <p:nvPr/>
        </p:nvSpPr>
        <p:spPr>
          <a:xfrm>
            <a:off x="10030968" y="2080260"/>
            <a:ext cx="219456" cy="0"/>
          </a:xfrm>
          <a:prstGeom prst="line">
            <a:avLst/>
          </a:prstGeom>
          <a:noFill/>
          <a:ln w="25400">
            <a:solidFill>
              <a:schemeClr val="accent3"/>
            </a:solidFill>
            <a:prstDash val="solid"/>
            <a:tailEnd type="triangle"/>
          </a:ln>
        </p:spPr>
      </p:sp>
      <p:sp>
        <p:nvSpPr>
          <p:cNvPr id="20" name="Step RAG 6"/>
          <p:cNvSpPr/>
          <p:nvPr/>
        </p:nvSpPr>
        <p:spPr>
          <a:xfrm>
            <a:off x="10287000" y="1645920"/>
            <a:ext cx="1325880" cy="868680"/>
          </a:xfrm>
          <a:prstGeom prst="roundRect">
            <a:avLst>
              <a:gd name="adj" fmla="val 12632"/>
            </a:avLst>
          </a:prstGeom>
          <a:solidFill>
            <a:schemeClr val="bg2"/>
          </a:solidFill>
          <a:ln w="12700">
            <a:solidFill>
              <a:schemeClr val="bg2"/>
            </a:solidFill>
            <a:prstDash val="solid"/>
          </a:ln>
        </p:spPr>
      </p:sp>
      <p:sp>
        <p:nvSpPr>
          <p:cNvPr id="21" name="Text 19"/>
          <p:cNvSpPr txBox="1"/>
          <p:nvPr/>
        </p:nvSpPr>
        <p:spPr>
          <a:xfrm>
            <a:off x="10332720" y="1645920"/>
            <a:ext cx="1234440" cy="868680"/>
          </a:xfrm>
          <a:prstGeom prst="rect">
            <a:avLst/>
          </a:prstGeom>
          <a:noFill/>
          <a:ln/>
        </p:spPr>
        <p:txBody>
          <a:bodyPr wrap="square" lIns="0" tIns="0" rIns="0" bIns="0" rtlCol="0" anchor="ctr"/>
          <a:lstStyle/>
          <a:p>
            <a:pPr algn="ctr" indent="0" marL="0">
              <a:buNone/>
            </a:pPr>
            <a:r>
              <a:rPr lang="en-US" sz="1400" b="1" dirty="0">
                <a:solidFill>
                  <a:schemeClr val="tx2"/>
                </a:solidFill>
              </a:rPr>
              <a:t>LLM</a:t>
            </a:r>
            <a:endParaRPr lang="en-US" sz="1400" dirty="0"/>
          </a:p>
        </p:txBody>
      </p:sp>
      <p:sp>
        <p:nvSpPr>
          <p:cNvPr id="22" name="Text 20"/>
          <p:cNvSpPr txBox="1"/>
          <p:nvPr/>
        </p:nvSpPr>
        <p:spPr>
          <a:xfrm>
            <a:off x="2194560" y="2651760"/>
            <a:ext cx="9418320" cy="365760"/>
          </a:xfrm>
          <a:prstGeom prst="rect">
            <a:avLst/>
          </a:prstGeom>
          <a:noFill/>
          <a:ln/>
        </p:spPr>
        <p:txBody>
          <a:bodyPr wrap="square" lIns="0" tIns="0" rIns="0" bIns="0" rtlCol="0" anchor="t"/>
          <a:lstStyle/>
          <a:p>
            <a:pPr indent="0" marL="0">
              <a:buNone/>
            </a:pPr>
            <a:r>
              <a:rPr lang="en-US" sz="1600" i="1" dirty="0">
                <a:solidFill>
                  <a:schemeClr val="accent3"/>
                </a:solidFill>
              </a:rPr>
              <a:t>Risk: fragments lose their context</a:t>
            </a:r>
            <a:endParaRPr lang="en-US" sz="1600" dirty="0"/>
          </a:p>
        </p:txBody>
      </p:sp>
      <p:sp>
        <p:nvSpPr>
          <p:cNvPr id="23" name="Label OKF"/>
          <p:cNvSpPr/>
          <p:nvPr/>
        </p:nvSpPr>
        <p:spPr>
          <a:xfrm>
            <a:off x="548640" y="3657600"/>
            <a:ext cx="1371600" cy="868680"/>
          </a:xfrm>
          <a:prstGeom prst="roundRect">
            <a:avLst>
              <a:gd name="adj" fmla="val 12632"/>
            </a:avLst>
          </a:prstGeom>
          <a:solidFill>
            <a:schemeClr val="accent1"/>
          </a:solidFill>
          <a:ln w="12700">
            <a:solidFill>
              <a:schemeClr val="accent1"/>
            </a:solidFill>
            <a:prstDash val="solid"/>
          </a:ln>
        </p:spPr>
      </p:sp>
      <p:sp>
        <p:nvSpPr>
          <p:cNvPr id="24" name="Text 22"/>
          <p:cNvSpPr txBox="1"/>
          <p:nvPr/>
        </p:nvSpPr>
        <p:spPr>
          <a:xfrm>
            <a:off x="548640" y="3657600"/>
            <a:ext cx="1371600" cy="868680"/>
          </a:xfrm>
          <a:prstGeom prst="rect">
            <a:avLst/>
          </a:prstGeom>
          <a:noFill/>
          <a:ln/>
        </p:spPr>
        <p:txBody>
          <a:bodyPr wrap="square" lIns="0" tIns="0" rIns="0" bIns="0" rtlCol="0" anchor="ctr"/>
          <a:lstStyle/>
          <a:p>
            <a:pPr algn="ctr" indent="0" marL="0">
              <a:buNone/>
            </a:pPr>
            <a:r>
              <a:rPr lang="en-US" sz="1800" b="1" dirty="0">
                <a:solidFill>
                  <a:schemeClr val="bg1"/>
                </a:solidFill>
              </a:rPr>
              <a:t>OKF</a:t>
            </a:r>
            <a:endParaRPr lang="en-US" sz="1800" dirty="0"/>
          </a:p>
        </p:txBody>
      </p:sp>
      <p:sp>
        <p:nvSpPr>
          <p:cNvPr id="25" name="Step OKF 1"/>
          <p:cNvSpPr/>
          <p:nvPr/>
        </p:nvSpPr>
        <p:spPr>
          <a:xfrm>
            <a:off x="2194560" y="3657600"/>
            <a:ext cx="2011680" cy="868680"/>
          </a:xfrm>
          <a:prstGeom prst="roundRect">
            <a:avLst>
              <a:gd name="adj" fmla="val 12632"/>
            </a:avLst>
          </a:prstGeom>
          <a:solidFill>
            <a:schemeClr val="bg2"/>
          </a:solidFill>
          <a:ln w="12700">
            <a:solidFill>
              <a:schemeClr val="bg2"/>
            </a:solidFill>
            <a:prstDash val="solid"/>
          </a:ln>
        </p:spPr>
      </p:sp>
      <p:sp>
        <p:nvSpPr>
          <p:cNvPr id="26" name="Text 24"/>
          <p:cNvSpPr txBox="1"/>
          <p:nvPr/>
        </p:nvSpPr>
        <p:spPr>
          <a:xfrm>
            <a:off x="2240280" y="3657600"/>
            <a:ext cx="1920240" cy="868680"/>
          </a:xfrm>
          <a:prstGeom prst="rect">
            <a:avLst/>
          </a:prstGeom>
          <a:noFill/>
          <a:ln/>
        </p:spPr>
        <p:txBody>
          <a:bodyPr wrap="square" lIns="0" tIns="0" rIns="0" bIns="0" rtlCol="0" anchor="ctr"/>
          <a:lstStyle/>
          <a:p>
            <a:pPr algn="ctr" indent="0" marL="0">
              <a:buNone/>
            </a:pPr>
            <a:r>
              <a:rPr lang="en-US" sz="1400" b="1" dirty="0">
                <a:solidFill>
                  <a:schemeClr val="tx2"/>
                </a:solidFill>
              </a:rPr>
              <a:t>Sources</a:t>
            </a:r>
            <a:endParaRPr lang="en-US" sz="1400" dirty="0"/>
          </a:p>
        </p:txBody>
      </p:sp>
      <p:sp>
        <p:nvSpPr>
          <p:cNvPr id="27" name="Shape 25"/>
          <p:cNvSpPr/>
          <p:nvPr/>
        </p:nvSpPr>
        <p:spPr>
          <a:xfrm>
            <a:off x="4242816" y="4091940"/>
            <a:ext cx="384048" cy="0"/>
          </a:xfrm>
          <a:prstGeom prst="line">
            <a:avLst/>
          </a:prstGeom>
          <a:noFill/>
          <a:ln w="25400">
            <a:solidFill>
              <a:schemeClr val="accent1"/>
            </a:solidFill>
            <a:prstDash val="solid"/>
            <a:tailEnd type="triangle"/>
          </a:ln>
        </p:spPr>
      </p:sp>
      <p:sp>
        <p:nvSpPr>
          <p:cNvPr id="28" name="Step OKF 2"/>
          <p:cNvSpPr/>
          <p:nvPr/>
        </p:nvSpPr>
        <p:spPr>
          <a:xfrm>
            <a:off x="4663440" y="3657600"/>
            <a:ext cx="2011680" cy="868680"/>
          </a:xfrm>
          <a:prstGeom prst="roundRect">
            <a:avLst>
              <a:gd name="adj" fmla="val 12632"/>
            </a:avLst>
          </a:prstGeom>
          <a:solidFill>
            <a:schemeClr val="bg2"/>
          </a:solidFill>
          <a:ln w="12700">
            <a:solidFill>
              <a:schemeClr val="bg2"/>
            </a:solidFill>
            <a:prstDash val="solid"/>
          </a:ln>
        </p:spPr>
      </p:sp>
      <p:sp>
        <p:nvSpPr>
          <p:cNvPr id="29" name="Text 27"/>
          <p:cNvSpPr txBox="1"/>
          <p:nvPr/>
        </p:nvSpPr>
        <p:spPr>
          <a:xfrm>
            <a:off x="4709160" y="3657600"/>
            <a:ext cx="1920240" cy="868680"/>
          </a:xfrm>
          <a:prstGeom prst="rect">
            <a:avLst/>
          </a:prstGeom>
          <a:noFill/>
          <a:ln/>
        </p:spPr>
        <p:txBody>
          <a:bodyPr wrap="square" lIns="0" tIns="0" rIns="0" bIns="0" rtlCol="0" anchor="ctr"/>
          <a:lstStyle/>
          <a:p>
            <a:pPr algn="ctr" indent="0" marL="0">
              <a:buNone/>
            </a:pPr>
            <a:r>
              <a:rPr lang="en-US" sz="1400" b="1" dirty="0">
                <a:solidFill>
                  <a:schemeClr val="tx2"/>
                </a:solidFill>
              </a:rPr>
              <a:t>LLM curator</a:t>
            </a:r>
            <a:endParaRPr lang="en-US" sz="1400" dirty="0"/>
          </a:p>
        </p:txBody>
      </p:sp>
      <p:sp>
        <p:nvSpPr>
          <p:cNvPr id="30" name="Shape 28"/>
          <p:cNvSpPr/>
          <p:nvPr/>
        </p:nvSpPr>
        <p:spPr>
          <a:xfrm>
            <a:off x="6711696" y="4091940"/>
            <a:ext cx="384048" cy="0"/>
          </a:xfrm>
          <a:prstGeom prst="line">
            <a:avLst/>
          </a:prstGeom>
          <a:noFill/>
          <a:ln w="25400">
            <a:solidFill>
              <a:schemeClr val="accent1"/>
            </a:solidFill>
            <a:prstDash val="solid"/>
            <a:tailEnd type="triangle"/>
          </a:ln>
        </p:spPr>
      </p:sp>
      <p:sp>
        <p:nvSpPr>
          <p:cNvPr id="31" name="Step OKF 3"/>
          <p:cNvSpPr/>
          <p:nvPr/>
        </p:nvSpPr>
        <p:spPr>
          <a:xfrm>
            <a:off x="7132320" y="3657600"/>
            <a:ext cx="2011680" cy="868680"/>
          </a:xfrm>
          <a:prstGeom prst="roundRect">
            <a:avLst>
              <a:gd name="adj" fmla="val 12632"/>
            </a:avLst>
          </a:prstGeom>
          <a:solidFill>
            <a:schemeClr val="bg2"/>
          </a:solidFill>
          <a:ln w="12700">
            <a:solidFill>
              <a:schemeClr val="bg2"/>
            </a:solidFill>
            <a:prstDash val="solid"/>
          </a:ln>
        </p:spPr>
      </p:sp>
      <p:sp>
        <p:nvSpPr>
          <p:cNvPr id="32" name="Text 30"/>
          <p:cNvSpPr txBox="1"/>
          <p:nvPr/>
        </p:nvSpPr>
        <p:spPr>
          <a:xfrm>
            <a:off x="7178040" y="3657600"/>
            <a:ext cx="1920240" cy="868680"/>
          </a:xfrm>
          <a:prstGeom prst="rect">
            <a:avLst/>
          </a:prstGeom>
          <a:noFill/>
          <a:ln/>
        </p:spPr>
        <p:txBody>
          <a:bodyPr wrap="square" lIns="0" tIns="0" rIns="0" bIns="0" rtlCol="0" anchor="ctr"/>
          <a:lstStyle/>
          <a:p>
            <a:pPr algn="ctr" indent="0" marL="0">
              <a:buNone/>
            </a:pPr>
            <a:r>
              <a:rPr lang="en-US" sz="1400" b="1" dirty="0">
                <a:solidFill>
                  <a:schemeClr val="tx2"/>
                </a:solidFill>
              </a:rPr>
              <a:t>Linked concept pages</a:t>
            </a:r>
            <a:endParaRPr lang="en-US" sz="1400" dirty="0"/>
          </a:p>
        </p:txBody>
      </p:sp>
      <p:sp>
        <p:nvSpPr>
          <p:cNvPr id="33" name="Shape 31"/>
          <p:cNvSpPr/>
          <p:nvPr/>
        </p:nvSpPr>
        <p:spPr>
          <a:xfrm>
            <a:off x="9180576" y="4091940"/>
            <a:ext cx="384048" cy="0"/>
          </a:xfrm>
          <a:prstGeom prst="line">
            <a:avLst/>
          </a:prstGeom>
          <a:noFill/>
          <a:ln w="25400">
            <a:solidFill>
              <a:schemeClr val="accent1"/>
            </a:solidFill>
            <a:prstDash val="solid"/>
            <a:tailEnd type="triangle"/>
          </a:ln>
        </p:spPr>
      </p:sp>
      <p:sp>
        <p:nvSpPr>
          <p:cNvPr id="34" name="Step OKF 4"/>
          <p:cNvSpPr/>
          <p:nvPr/>
        </p:nvSpPr>
        <p:spPr>
          <a:xfrm>
            <a:off x="9601200" y="3657600"/>
            <a:ext cx="2011680" cy="868680"/>
          </a:xfrm>
          <a:prstGeom prst="roundRect">
            <a:avLst>
              <a:gd name="adj" fmla="val 12632"/>
            </a:avLst>
          </a:prstGeom>
          <a:solidFill>
            <a:schemeClr val="bg2"/>
          </a:solidFill>
          <a:ln w="12700">
            <a:solidFill>
              <a:schemeClr val="bg2"/>
            </a:solidFill>
            <a:prstDash val="solid"/>
          </a:ln>
        </p:spPr>
      </p:sp>
      <p:sp>
        <p:nvSpPr>
          <p:cNvPr id="35" name="Text 33"/>
          <p:cNvSpPr txBox="1"/>
          <p:nvPr/>
        </p:nvSpPr>
        <p:spPr>
          <a:xfrm>
            <a:off x="9646920" y="3657600"/>
            <a:ext cx="1920240" cy="868680"/>
          </a:xfrm>
          <a:prstGeom prst="rect">
            <a:avLst/>
          </a:prstGeom>
          <a:noFill/>
          <a:ln/>
        </p:spPr>
        <p:txBody>
          <a:bodyPr wrap="square" lIns="0" tIns="0" rIns="0" bIns="0" rtlCol="0" anchor="ctr"/>
          <a:lstStyle/>
          <a:p>
            <a:pPr algn="ctr" indent="0" marL="0">
              <a:buNone/>
            </a:pPr>
            <a:r>
              <a:rPr lang="en-US" sz="1400" b="1" dirty="0">
                <a:solidFill>
                  <a:schemeClr val="tx2"/>
                </a:solidFill>
              </a:rPr>
              <a:t>Agent reads</a:t>
            </a:r>
            <a:endParaRPr lang="en-US" sz="1400" dirty="0"/>
          </a:p>
        </p:txBody>
      </p:sp>
      <p:sp>
        <p:nvSpPr>
          <p:cNvPr id="36" name="Text 34"/>
          <p:cNvSpPr txBox="1"/>
          <p:nvPr/>
        </p:nvSpPr>
        <p:spPr>
          <a:xfrm>
            <a:off x="2194560" y="4663440"/>
            <a:ext cx="9418320" cy="365760"/>
          </a:xfrm>
          <a:prstGeom prst="rect">
            <a:avLst/>
          </a:prstGeom>
          <a:noFill/>
          <a:ln/>
        </p:spPr>
        <p:txBody>
          <a:bodyPr wrap="square" lIns="0" tIns="0" rIns="0" bIns="0" rtlCol="0" anchor="t"/>
          <a:lstStyle/>
          <a:p>
            <a:pPr indent="0" marL="0">
              <a:buNone/>
            </a:pPr>
            <a:r>
              <a:rPr lang="en-US" sz="1600" i="1" dirty="0">
                <a:solidFill>
                  <a:schemeClr val="accent1"/>
                </a:solidFill>
              </a:rPr>
              <a:t>Risk: curation errors persist</a:t>
            </a:r>
            <a:endParaRPr lang="en-US" sz="1600" dirty="0"/>
          </a:p>
        </p:txBody>
      </p:sp>
      <p:sp>
        <p:nvSpPr>
          <p:cNvPr id="37" name="Takeaway"/>
          <p:cNvSpPr/>
          <p:nvPr/>
        </p:nvSpPr>
        <p:spPr>
          <a:xfrm>
            <a:off x="548640" y="5486400"/>
            <a:ext cx="11091672" cy="640080"/>
          </a:xfrm>
          <a:prstGeom prst="roundRect">
            <a:avLst>
              <a:gd name="adj" fmla="val 17143"/>
            </a:avLst>
          </a:prstGeom>
          <a:solidFill>
            <a:schemeClr val="tx2"/>
          </a:solidFill>
          <a:ln w="12700">
            <a:solidFill>
              <a:schemeClr val="tx2"/>
            </a:solidFill>
            <a:prstDash val="solid"/>
          </a:ln>
        </p:spPr>
      </p:sp>
      <p:sp>
        <p:nvSpPr>
          <p:cNvPr id="38" name="Text 36"/>
          <p:cNvSpPr txBox="1"/>
          <p:nvPr/>
        </p:nvSpPr>
        <p:spPr>
          <a:xfrm>
            <a:off x="731520" y="5486400"/>
            <a:ext cx="10698480" cy="640080"/>
          </a:xfrm>
          <a:prstGeom prst="rect">
            <a:avLst/>
          </a:prstGeom>
          <a:noFill/>
          <a:ln/>
        </p:spPr>
        <p:txBody>
          <a:bodyPr wrap="square" lIns="0" tIns="0" rIns="0" bIns="0" rtlCol="0" anchor="ctr"/>
          <a:lstStyle/>
          <a:p>
            <a:pPr indent="0" marL="0">
              <a:buNone/>
            </a:pPr>
            <a:r>
              <a:rPr lang="en-US" sz="2000" b="1" dirty="0">
                <a:solidFill>
                  <a:schemeClr val="bg1"/>
                </a:solidFill>
              </a:rPr>
              <a:t>Work moves from query time to curation time</a:t>
            </a:r>
            <a:endParaRPr lang="en-US" sz="20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05840"/>
          </a:xfrm>
          <a:prstGeom prst="rect">
            <a:avLst/>
          </a:prstGeom>
          <a:noFill/>
          <a:ln/>
        </p:spPr>
        <p:txBody>
          <a:bodyPr wrap="square" lIns="0" tIns="0" rIns="0" bIns="0" rtlCol="0" anchor="ctr"/>
          <a:lstStyle/>
          <a:p>
            <a:pPr algn="l" indent="0" marL="0">
              <a:buNone/>
            </a:pPr>
            <a:r>
              <a:rPr lang="en-US" sz="3400" b="1" dirty="0">
                <a:solidFill>
                  <a:schemeClr val="tx2"/>
                </a:solidFill>
              </a:rPr>
              <a:t>Banking Case: Senior Citizen Home Loan</a:t>
            </a:r>
            <a:endParaRPr lang="en-US" sz="3400" dirty="0"/>
          </a:p>
        </p:txBody>
      </p:sp>
      <p:sp>
        <p:nvSpPr>
          <p:cNvPr id="3" name="Customer card"/>
          <p:cNvSpPr/>
          <p:nvPr/>
        </p:nvSpPr>
        <p:spPr>
          <a:xfrm>
            <a:off x="548640" y="1554480"/>
            <a:ext cx="4480560" cy="4480560"/>
          </a:xfrm>
          <a:prstGeom prst="roundRect">
            <a:avLst>
              <a:gd name="adj" fmla="val 2449"/>
            </a:avLst>
          </a:prstGeom>
          <a:solidFill>
            <a:schemeClr val="tx2"/>
          </a:solidFill>
          <a:ln w="12700">
            <a:solidFill>
              <a:schemeClr val="tx2"/>
            </a:solidFill>
            <a:prstDash val="solid"/>
          </a:ln>
        </p:spPr>
      </p:sp>
      <p:sp>
        <p:nvSpPr>
          <p:cNvPr id="4" name="Text 2"/>
          <p:cNvSpPr txBox="1"/>
          <p:nvPr/>
        </p:nvSpPr>
        <p:spPr>
          <a:xfrm>
            <a:off x="868680" y="1828800"/>
            <a:ext cx="3840480" cy="36576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The customer</a:t>
            </a:r>
            <a:endParaRPr lang="en-US" sz="2200" dirty="0"/>
          </a:p>
        </p:txBody>
      </p:sp>
      <p:sp>
        <p:nvSpPr>
          <p:cNvPr id="5" name="Text 3"/>
          <p:cNvSpPr txBox="1"/>
          <p:nvPr/>
        </p:nvSpPr>
        <p:spPr>
          <a:xfrm>
            <a:off x="868680" y="2468880"/>
            <a:ext cx="3840480" cy="3291840"/>
          </a:xfrm>
          <a:prstGeom prst="rect">
            <a:avLst/>
          </a:prstGeom>
          <a:noFill/>
          <a:ln/>
        </p:spPr>
        <p:txBody>
          <a:bodyPr wrap="square" lIns="0" tIns="0" rIns="0" bIns="0" rtlCol="0" anchor="t"/>
          <a:lstStyle/>
          <a:p>
            <a:pPr indent="0" marL="0">
              <a:spcAft>
                <a:spcPts val="1400"/>
              </a:spcAft>
              <a:buNone/>
            </a:pPr>
            <a:r>
              <a:rPr lang="en-US" sz="1800" b="1" dirty="0">
                <a:solidFill>
                  <a:schemeClr val="accent2"/>
                </a:solidFill>
              </a:rPr>
              <a:t>Age: </a:t>
            </a:r>
            <a:pPr indent="0" marL="0">
              <a:spcAft>
                <a:spcPts val="1400"/>
              </a:spcAft>
              <a:buNone/>
            </a:pPr>
            <a:r>
              <a:rPr lang="en-US" sz="1800" dirty="0">
                <a:solidFill>
                  <a:schemeClr val="bg1"/>
                </a:solidFill>
              </a:rPr>
              <a:t>63</a:t>
            </a:r>
            <a:endParaRPr lang="en-US" sz="1800" dirty="0"/>
          </a:p>
          <a:p>
            <a:pPr indent="0" marL="0">
              <a:spcAft>
                <a:spcPts val="1400"/>
              </a:spcAft>
              <a:buNone/>
            </a:pPr>
            <a:r>
              <a:rPr lang="en-US" sz="1800" b="1" dirty="0">
                <a:solidFill>
                  <a:schemeClr val="accent2"/>
                </a:solidFill>
              </a:rPr>
              <a:t>Income: </a:t>
            </a:r>
            <a:pPr indent="0" marL="0">
              <a:spcAft>
                <a:spcPts val="1400"/>
              </a:spcAft>
              <a:buNone/>
            </a:pPr>
            <a:r>
              <a:rPr lang="en-US" sz="1800" dirty="0">
                <a:solidFill>
                  <a:schemeClr val="bg1"/>
                </a:solidFill>
              </a:rPr>
              <a:t>Pension</a:t>
            </a:r>
            <a:endParaRPr lang="en-US" sz="1800" dirty="0"/>
          </a:p>
          <a:p>
            <a:pPr indent="0" marL="0">
              <a:spcAft>
                <a:spcPts val="1400"/>
              </a:spcAft>
              <a:buNone/>
            </a:pPr>
            <a:r>
              <a:rPr lang="en-US" sz="1800" b="1" dirty="0">
                <a:solidFill>
                  <a:schemeClr val="accent2"/>
                </a:solidFill>
              </a:rPr>
              <a:t>Applicant: </a:t>
            </a:r>
            <a:pPr indent="0" marL="0">
              <a:spcAft>
                <a:spcPts val="1400"/>
              </a:spcAft>
              <a:buNone/>
            </a:pPr>
            <a:r>
              <a:rPr lang="en-US" sz="1800" dirty="0">
                <a:solidFill>
                  <a:schemeClr val="bg1"/>
                </a:solidFill>
              </a:rPr>
              <a:t>Joint</a:t>
            </a:r>
            <a:endParaRPr lang="en-US" sz="1800" dirty="0"/>
          </a:p>
          <a:p>
            <a:pPr indent="0" marL="0">
              <a:spcAft>
                <a:spcPts val="1400"/>
              </a:spcAft>
              <a:buNone/>
            </a:pPr>
            <a:r>
              <a:rPr lang="en-US" sz="1800" b="1" dirty="0">
                <a:solidFill>
                  <a:schemeClr val="accent2"/>
                </a:solidFill>
              </a:rPr>
              <a:t>Question: </a:t>
            </a:r>
            <a:pPr indent="0" marL="0">
              <a:spcAft>
                <a:spcPts val="1400"/>
              </a:spcAft>
              <a:buNone/>
            </a:pPr>
            <a:r>
              <a:rPr lang="en-US" sz="1800" dirty="0">
                <a:solidFill>
                  <a:schemeClr val="bg1"/>
                </a:solidFill>
              </a:rPr>
              <a:t>Eligible? Which rate concession applies?</a:t>
            </a:r>
            <a:endParaRPr lang="en-US" sz="1800" dirty="0"/>
          </a:p>
        </p:txBody>
      </p:sp>
      <p:sp>
        <p:nvSpPr>
          <p:cNvPr id="6" name="Source 1"/>
          <p:cNvSpPr/>
          <p:nvPr/>
        </p:nvSpPr>
        <p:spPr>
          <a:xfrm>
            <a:off x="5303520" y="1554480"/>
            <a:ext cx="1965960" cy="2286000"/>
          </a:xfrm>
          <a:prstGeom prst="roundRect">
            <a:avLst>
              <a:gd name="adj" fmla="val 5581"/>
            </a:avLst>
          </a:prstGeom>
          <a:solidFill>
            <a:schemeClr val="bg2"/>
          </a:solidFill>
          <a:ln w="12700">
            <a:solidFill>
              <a:schemeClr val="bg2"/>
            </a:solidFill>
            <a:prstDash val="solid"/>
          </a:ln>
        </p:spPr>
      </p:sp>
      <p:sp>
        <p:nvSpPr>
          <p:cNvPr id="7" name="Source badge 1"/>
          <p:cNvSpPr/>
          <p:nvPr/>
        </p:nvSpPr>
        <p:spPr>
          <a:xfrm>
            <a:off x="5486400" y="1737360"/>
            <a:ext cx="457200" cy="457200"/>
          </a:xfrm>
          <a:prstGeom prst="ellipse">
            <a:avLst/>
          </a:prstGeom>
          <a:solidFill>
            <a:schemeClr val="accent1"/>
          </a:solidFill>
          <a:ln w="12700">
            <a:solidFill>
              <a:schemeClr val="accent1"/>
            </a:solidFill>
            <a:prstDash val="solid"/>
          </a:ln>
        </p:spPr>
      </p:sp>
      <p:sp>
        <p:nvSpPr>
          <p:cNvPr id="8" name="Text 6"/>
          <p:cNvSpPr txBox="1"/>
          <p:nvPr/>
        </p:nvSpPr>
        <p:spPr>
          <a:xfrm>
            <a:off x="5486400" y="1737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Text 7"/>
          <p:cNvSpPr txBox="1"/>
          <p:nvPr/>
        </p:nvSpPr>
        <p:spPr>
          <a:xfrm>
            <a:off x="5486400" y="2377440"/>
            <a:ext cx="1645920" cy="731520"/>
          </a:xfrm>
          <a:prstGeom prst="rect">
            <a:avLst/>
          </a:prstGeom>
          <a:noFill/>
          <a:ln/>
        </p:spPr>
        <p:txBody>
          <a:bodyPr wrap="square" lIns="0" tIns="0" rIns="0" bIns="0" rtlCol="0" anchor="t"/>
          <a:lstStyle/>
          <a:p>
            <a:pPr indent="0" marL="0">
              <a:buNone/>
            </a:pPr>
            <a:r>
              <a:rPr lang="en-US" sz="1600" b="1" dirty="0">
                <a:solidFill>
                  <a:schemeClr val="tx2"/>
                </a:solidFill>
              </a:rPr>
              <a:t>Credit Policy v7</a:t>
            </a:r>
            <a:endParaRPr lang="en-US" sz="1600" dirty="0"/>
          </a:p>
        </p:txBody>
      </p:sp>
      <p:sp>
        <p:nvSpPr>
          <p:cNvPr id="10" name="Text 8"/>
          <p:cNvSpPr txBox="1"/>
          <p:nvPr/>
        </p:nvSpPr>
        <p:spPr>
          <a:xfrm>
            <a:off x="5486400" y="3200400"/>
            <a:ext cx="1645920" cy="457200"/>
          </a:xfrm>
          <a:prstGeom prst="rect">
            <a:avLst/>
          </a:prstGeom>
          <a:noFill/>
          <a:ln/>
        </p:spPr>
        <p:txBody>
          <a:bodyPr wrap="square" lIns="0" tIns="0" rIns="0" bIns="0" rtlCol="0" anchor="t"/>
          <a:lstStyle/>
          <a:p>
            <a:pPr indent="0" marL="0">
              <a:buNone/>
            </a:pPr>
            <a:r>
              <a:rPr lang="en-US" sz="1400" dirty="0">
                <a:solidFill>
                  <a:schemeClr val="accent4"/>
                </a:solidFill>
              </a:rPr>
              <a:t>Base eligibility</a:t>
            </a:r>
            <a:endParaRPr lang="en-US" sz="1400" dirty="0"/>
          </a:p>
        </p:txBody>
      </p:sp>
      <p:sp>
        <p:nvSpPr>
          <p:cNvPr id="11" name="Source 2"/>
          <p:cNvSpPr/>
          <p:nvPr/>
        </p:nvSpPr>
        <p:spPr>
          <a:xfrm>
            <a:off x="7488936" y="1554480"/>
            <a:ext cx="1965960" cy="2286000"/>
          </a:xfrm>
          <a:prstGeom prst="roundRect">
            <a:avLst>
              <a:gd name="adj" fmla="val 5581"/>
            </a:avLst>
          </a:prstGeom>
          <a:solidFill>
            <a:schemeClr val="bg2"/>
          </a:solidFill>
          <a:ln w="12700">
            <a:solidFill>
              <a:schemeClr val="bg2"/>
            </a:solidFill>
            <a:prstDash val="solid"/>
          </a:ln>
        </p:spPr>
      </p:sp>
      <p:sp>
        <p:nvSpPr>
          <p:cNvPr id="12" name="Source badge 2"/>
          <p:cNvSpPr/>
          <p:nvPr/>
        </p:nvSpPr>
        <p:spPr>
          <a:xfrm>
            <a:off x="7671816" y="1737360"/>
            <a:ext cx="457200" cy="457200"/>
          </a:xfrm>
          <a:prstGeom prst="ellipse">
            <a:avLst/>
          </a:prstGeom>
          <a:solidFill>
            <a:schemeClr val="accent1"/>
          </a:solidFill>
          <a:ln w="12700">
            <a:solidFill>
              <a:schemeClr val="accent1"/>
            </a:solidFill>
            <a:prstDash val="solid"/>
          </a:ln>
        </p:spPr>
      </p:sp>
      <p:sp>
        <p:nvSpPr>
          <p:cNvPr id="13" name="Text 11"/>
          <p:cNvSpPr txBox="1"/>
          <p:nvPr/>
        </p:nvSpPr>
        <p:spPr>
          <a:xfrm>
            <a:off x="7671816" y="1737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Text 12"/>
          <p:cNvSpPr txBox="1"/>
          <p:nvPr/>
        </p:nvSpPr>
        <p:spPr>
          <a:xfrm>
            <a:off x="7671816" y="2377440"/>
            <a:ext cx="1645920" cy="731520"/>
          </a:xfrm>
          <a:prstGeom prst="rect">
            <a:avLst/>
          </a:prstGeom>
          <a:noFill/>
          <a:ln/>
        </p:spPr>
        <p:txBody>
          <a:bodyPr wrap="square" lIns="0" tIns="0" rIns="0" bIns="0" rtlCol="0" anchor="t"/>
          <a:lstStyle/>
          <a:p>
            <a:pPr indent="0" marL="0">
              <a:buNone/>
            </a:pPr>
            <a:r>
              <a:rPr lang="en-US" sz="1600" b="1" dirty="0">
                <a:solidFill>
                  <a:schemeClr val="tx2"/>
                </a:solidFill>
              </a:rPr>
              <a:t>Age-at-maturity circular</a:t>
            </a:r>
            <a:endParaRPr lang="en-US" sz="1600" dirty="0"/>
          </a:p>
        </p:txBody>
      </p:sp>
      <p:sp>
        <p:nvSpPr>
          <p:cNvPr id="15" name="Text 13"/>
          <p:cNvSpPr txBox="1"/>
          <p:nvPr/>
        </p:nvSpPr>
        <p:spPr>
          <a:xfrm>
            <a:off x="7671816" y="3200400"/>
            <a:ext cx="1645920" cy="457200"/>
          </a:xfrm>
          <a:prstGeom prst="rect">
            <a:avLst/>
          </a:prstGeom>
          <a:noFill/>
          <a:ln/>
        </p:spPr>
        <p:txBody>
          <a:bodyPr wrap="square" lIns="0" tIns="0" rIns="0" bIns="0" rtlCol="0" anchor="t"/>
          <a:lstStyle/>
          <a:p>
            <a:pPr indent="0" marL="0">
              <a:buNone/>
            </a:pPr>
            <a:r>
              <a:rPr lang="en-US" sz="1400" dirty="0">
                <a:solidFill>
                  <a:schemeClr val="accent4"/>
                </a:solidFill>
              </a:rPr>
              <a:t>Maximum age rule</a:t>
            </a:r>
            <a:endParaRPr lang="en-US" sz="1400" dirty="0"/>
          </a:p>
        </p:txBody>
      </p:sp>
      <p:sp>
        <p:nvSpPr>
          <p:cNvPr id="16" name="Source 3"/>
          <p:cNvSpPr/>
          <p:nvPr/>
        </p:nvSpPr>
        <p:spPr>
          <a:xfrm>
            <a:off x="9674352" y="1554480"/>
            <a:ext cx="1965960" cy="2286000"/>
          </a:xfrm>
          <a:prstGeom prst="roundRect">
            <a:avLst>
              <a:gd name="adj" fmla="val 5581"/>
            </a:avLst>
          </a:prstGeom>
          <a:solidFill>
            <a:schemeClr val="bg2"/>
          </a:solidFill>
          <a:ln w="12700">
            <a:solidFill>
              <a:schemeClr val="bg2"/>
            </a:solidFill>
            <a:prstDash val="solid"/>
          </a:ln>
        </p:spPr>
      </p:sp>
      <p:sp>
        <p:nvSpPr>
          <p:cNvPr id="17" name="Source badge 3"/>
          <p:cNvSpPr/>
          <p:nvPr/>
        </p:nvSpPr>
        <p:spPr>
          <a:xfrm>
            <a:off x="9857232" y="1737360"/>
            <a:ext cx="457200" cy="457200"/>
          </a:xfrm>
          <a:prstGeom prst="ellipse">
            <a:avLst/>
          </a:prstGeom>
          <a:solidFill>
            <a:schemeClr val="accent1"/>
          </a:solidFill>
          <a:ln w="12700">
            <a:solidFill>
              <a:schemeClr val="accent1"/>
            </a:solidFill>
            <a:prstDash val="solid"/>
          </a:ln>
        </p:spPr>
      </p:sp>
      <p:sp>
        <p:nvSpPr>
          <p:cNvPr id="18" name="Text 16"/>
          <p:cNvSpPr txBox="1"/>
          <p:nvPr/>
        </p:nvSpPr>
        <p:spPr>
          <a:xfrm>
            <a:off x="9857232" y="1737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9" name="Text 17"/>
          <p:cNvSpPr txBox="1"/>
          <p:nvPr/>
        </p:nvSpPr>
        <p:spPr>
          <a:xfrm>
            <a:off x="9857232" y="2377440"/>
            <a:ext cx="1645920" cy="731520"/>
          </a:xfrm>
          <a:prstGeom prst="rect">
            <a:avLst/>
          </a:prstGeom>
          <a:noFill/>
          <a:ln/>
        </p:spPr>
        <p:txBody>
          <a:bodyPr wrap="square" lIns="0" tIns="0" rIns="0" bIns="0" rtlCol="0" anchor="t"/>
          <a:lstStyle/>
          <a:p>
            <a:pPr indent="0" marL="0">
              <a:buNone/>
            </a:pPr>
            <a:r>
              <a:rPr lang="en-US" sz="1600" b="1" dirty="0">
                <a:solidFill>
                  <a:schemeClr val="tx2"/>
                </a:solidFill>
              </a:rPr>
              <a:t>Rate-concession memo</a:t>
            </a:r>
            <a:endParaRPr lang="en-US" sz="1600" dirty="0"/>
          </a:p>
        </p:txBody>
      </p:sp>
      <p:sp>
        <p:nvSpPr>
          <p:cNvPr id="20" name="Text 18"/>
          <p:cNvSpPr txBox="1"/>
          <p:nvPr/>
        </p:nvSpPr>
        <p:spPr>
          <a:xfrm>
            <a:off x="9857232" y="3200400"/>
            <a:ext cx="1645920" cy="457200"/>
          </a:xfrm>
          <a:prstGeom prst="rect">
            <a:avLst/>
          </a:prstGeom>
          <a:noFill/>
          <a:ln/>
        </p:spPr>
        <p:txBody>
          <a:bodyPr wrap="square" lIns="0" tIns="0" rIns="0" bIns="0" rtlCol="0" anchor="t"/>
          <a:lstStyle/>
          <a:p>
            <a:pPr indent="0" marL="0">
              <a:buNone/>
            </a:pPr>
            <a:r>
              <a:rPr lang="en-US" sz="1400" dirty="0">
                <a:solidFill>
                  <a:schemeClr val="accent4"/>
                </a:solidFill>
              </a:rPr>
              <a:t>Senior pricing</a:t>
            </a:r>
            <a:endParaRPr lang="en-US" sz="1400" dirty="0"/>
          </a:p>
        </p:txBody>
      </p:sp>
      <p:sp>
        <p:nvSpPr>
          <p:cNvPr id="21" name="Trap"/>
          <p:cNvSpPr/>
          <p:nvPr/>
        </p:nvSpPr>
        <p:spPr>
          <a:xfrm>
            <a:off x="5303520" y="4069080"/>
            <a:ext cx="6336792" cy="1965960"/>
          </a:xfrm>
          <a:prstGeom prst="roundRect">
            <a:avLst>
              <a:gd name="adj" fmla="val 5581"/>
            </a:avLst>
          </a:prstGeom>
          <a:solidFill>
            <a:schemeClr val="accent3"/>
          </a:solidFill>
          <a:ln w="12700">
            <a:solidFill>
              <a:schemeClr val="accent3"/>
            </a:solidFill>
            <a:prstDash val="solid"/>
          </a:ln>
        </p:spPr>
      </p:sp>
      <p:sp>
        <p:nvSpPr>
          <p:cNvPr id="22" name="Text 20"/>
          <p:cNvSpPr txBox="1"/>
          <p:nvPr/>
        </p:nvSpPr>
        <p:spPr>
          <a:xfrm>
            <a:off x="5623560" y="4297680"/>
            <a:ext cx="5669280" cy="36576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The trap</a:t>
            </a:r>
            <a:endParaRPr lang="en-US" sz="2200" dirty="0"/>
          </a:p>
        </p:txBody>
      </p:sp>
      <p:sp>
        <p:nvSpPr>
          <p:cNvPr id="23" name="Text 21"/>
          <p:cNvSpPr txBox="1"/>
          <p:nvPr/>
        </p:nvSpPr>
        <p:spPr>
          <a:xfrm>
            <a:off x="5623560" y="4754880"/>
            <a:ext cx="5669280" cy="1188720"/>
          </a:xfrm>
          <a:prstGeom prst="rect">
            <a:avLst/>
          </a:prstGeom>
          <a:noFill/>
          <a:ln/>
        </p:spPr>
        <p:txBody>
          <a:bodyPr wrap="square" lIns="0" tIns="0" rIns="0" bIns="0" rtlCol="0" anchor="t"/>
          <a:lstStyle/>
          <a:p>
            <a:pPr indent="0" marL="0">
              <a:spcAft>
                <a:spcPts val="800"/>
              </a:spcAft>
              <a:buNone/>
            </a:pPr>
            <a:r>
              <a:rPr lang="en-US" sz="1600" b="1" dirty="0">
                <a:solidFill>
                  <a:schemeClr val="accent2"/>
                </a:solidFill>
              </a:rPr>
              <a:t>Conflict: </a:t>
            </a:r>
            <a:pPr indent="0" marL="0">
              <a:spcAft>
                <a:spcPts val="800"/>
              </a:spcAft>
              <a:buNone/>
            </a:pPr>
            <a:r>
              <a:rPr lang="en-US" sz="1600" dirty="0">
                <a:solidFill>
                  <a:schemeClr val="bg1"/>
                </a:solidFill>
              </a:rPr>
              <a:t>The circular amends v7, yet both documents sit in the index</a:t>
            </a:r>
            <a:endParaRPr lang="en-US" sz="1600" dirty="0"/>
          </a:p>
          <a:p>
            <a:pPr indent="0" marL="0">
              <a:spcAft>
                <a:spcPts val="800"/>
              </a:spcAft>
              <a:buNone/>
            </a:pPr>
            <a:r>
              <a:rPr lang="en-US" sz="1600" b="1" dirty="0">
                <a:solidFill>
                  <a:schemeClr val="accent2"/>
                </a:solidFill>
              </a:rPr>
              <a:t>Need: </a:t>
            </a:r>
            <a:pPr indent="0" marL="0">
              <a:spcAft>
                <a:spcPts val="800"/>
              </a:spcAft>
              <a:buNone/>
            </a:pPr>
            <a:r>
              <a:rPr lang="en-US" sz="1600" dirty="0">
                <a:solidFill>
                  <a:schemeClr val="bg1"/>
                </a:solidFill>
              </a:rPr>
              <a:t>The current rule, not the closest paragraph</a:t>
            </a:r>
            <a:endParaRPr lang="en-US" sz="16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594360"/>
          </a:xfrm>
          <a:prstGeom prst="rect">
            <a:avLst/>
          </a:prstGeom>
          <a:noFill/>
          <a:ln/>
        </p:spPr>
        <p:txBody>
          <a:bodyPr wrap="square" lIns="0" tIns="0" rIns="0" bIns="0" rtlCol="0" anchor="ctr"/>
          <a:lstStyle/>
          <a:p>
            <a:pPr algn="l" indent="0" marL="0">
              <a:buNone/>
            </a:pPr>
            <a:r>
              <a:rPr lang="en-US" sz="3400" b="1" dirty="0">
                <a:solidFill>
                  <a:schemeClr val="tx2"/>
                </a:solidFill>
              </a:rPr>
              <a:t>Practical Case 1: Senior Citizen Home Loan</a:t>
            </a:r>
            <a:endParaRPr lang="en-US" sz="3400" dirty="0"/>
          </a:p>
        </p:txBody>
      </p:sp>
      <p:sp>
        <p:nvSpPr>
          <p:cNvPr id="3" name="Scenario"/>
          <p:cNvSpPr txBox="1"/>
          <p:nvPr/>
        </p:nvSpPr>
        <p:spPr>
          <a:xfrm>
            <a:off x="548640" y="960120"/>
            <a:ext cx="11091672" cy="411480"/>
          </a:xfrm>
          <a:prstGeom prst="rect">
            <a:avLst/>
          </a:prstGeom>
          <a:noFill/>
          <a:ln/>
        </p:spPr>
        <p:txBody>
          <a:bodyPr wrap="square" lIns="0" tIns="0" rIns="0" bIns="0" rtlCol="0" anchor="ctr"/>
          <a:lstStyle/>
          <a:p>
            <a:pPr indent="0" marL="0">
              <a:buNone/>
            </a:pPr>
            <a:r>
              <a:rPr lang="en-US" sz="1600" b="1" dirty="0">
                <a:solidFill>
                  <a:schemeClr val="accent3"/>
                </a:solidFill>
              </a:rPr>
              <a:t>Scenario: </a:t>
            </a:r>
            <a:r>
              <a:rPr lang="en-US" sz="1600" dirty="0">
                <a:solidFill>
                  <a:schemeClr val="tx1"/>
                </a:solidFill>
              </a:rPr>
              <a:t>Customer age 63, pension income. Which maximum age limit applies?</a:t>
            </a:r>
            <a:endParaRPr lang="en-US" sz="1600" dirty="0"/>
          </a:p>
        </p:txBody>
      </p:sp>
      <p:sp>
        <p:nvSpPr>
          <p:cNvPr id="4" name="Outcome Vector RAG"/>
          <p:cNvSpPr/>
          <p:nvPr/>
        </p:nvSpPr>
        <p:spPr>
          <a:xfrm>
            <a:off x="548640" y="1554480"/>
            <a:ext cx="5394960" cy="3749040"/>
          </a:xfrm>
          <a:prstGeom prst="roundRect">
            <a:avLst>
              <a:gd name="adj" fmla="val 2927"/>
            </a:avLst>
          </a:prstGeom>
          <a:solidFill>
            <a:schemeClr val="bg2"/>
          </a:solidFill>
          <a:ln w="12700">
            <a:solidFill>
              <a:schemeClr val="bg2"/>
            </a:solidFill>
            <a:prstDash val="solid"/>
          </a:ln>
        </p:spPr>
      </p:sp>
      <p:sp>
        <p:nvSpPr>
          <p:cNvPr id="5" name="Tag Vector RAG"/>
          <p:cNvSpPr/>
          <p:nvPr/>
        </p:nvSpPr>
        <p:spPr>
          <a:xfrm>
            <a:off x="822960" y="1737360"/>
            <a:ext cx="2011680" cy="365760"/>
          </a:xfrm>
          <a:prstGeom prst="roundRect">
            <a:avLst>
              <a:gd name="adj" fmla="val 24000"/>
            </a:avLst>
          </a:prstGeom>
          <a:solidFill>
            <a:schemeClr val="accent3"/>
          </a:solidFill>
          <a:ln w="12700">
            <a:solidFill>
              <a:schemeClr val="accent3"/>
            </a:solidFill>
            <a:prstDash val="solid"/>
          </a:ln>
        </p:spPr>
      </p:sp>
      <p:sp>
        <p:nvSpPr>
          <p:cNvPr id="6" name="Tag text Vector RAG"/>
          <p:cNvSpPr txBox="1"/>
          <p:nvPr/>
        </p:nvSpPr>
        <p:spPr>
          <a:xfrm>
            <a:off x="822960" y="1737360"/>
            <a:ext cx="2011680" cy="365760"/>
          </a:xfrm>
          <a:prstGeom prst="rect">
            <a:avLst/>
          </a:prstGeom>
          <a:noFill/>
          <a:ln/>
        </p:spPr>
        <p:txBody>
          <a:bodyPr wrap="square" lIns="0" tIns="0" rIns="0" bIns="0" rtlCol="0" anchor="ctr"/>
          <a:lstStyle/>
          <a:p>
            <a:pPr algn="ctr" indent="0" marL="0">
              <a:buNone/>
            </a:pPr>
            <a:r>
              <a:rPr lang="en-US" sz="1600" b="1" dirty="0">
                <a:solidFill>
                  <a:schemeClr val="bg1"/>
                </a:solidFill>
              </a:rPr>
              <a:t>Vector RAG</a:t>
            </a:r>
            <a:endParaRPr lang="en-US" sz="1600" dirty="0"/>
          </a:p>
        </p:txBody>
      </p:sp>
      <p:sp>
        <p:nvSpPr>
          <p:cNvPr id="7" name="Body Vector RAG"/>
          <p:cNvSpPr txBox="1"/>
          <p:nvPr/>
        </p:nvSpPr>
        <p:spPr>
          <a:xfrm>
            <a:off x="914400" y="2286000"/>
            <a:ext cx="4663440" cy="2926080"/>
          </a:xfrm>
          <a:prstGeom prst="rect">
            <a:avLst/>
          </a:prstGeom>
          <a:noFill/>
          <a:ln/>
        </p:spPr>
        <p:txBody>
          <a:bodyPr wrap="square" lIns="0" tIns="0" rIns="0" bIns="0" rtlCol="0" anchor="t"/>
          <a:lstStyle/>
          <a:p>
            <a:pPr indent="0" marL="0">
              <a:spcAft>
                <a:spcPts val="1200"/>
              </a:spcAft>
              <a:buNone/>
            </a:pPr>
            <a:r>
              <a:rPr lang="en-US" sz="1800" b="1" dirty="0">
                <a:solidFill>
                  <a:schemeClr val="accent3"/>
                </a:solidFill>
              </a:rPr>
              <a:t>Retrieves: </a:t>
            </a:r>
            <a:r>
              <a:rPr lang="en-US" sz="1800" dirty="0">
                <a:solidFill>
                  <a:schemeClr val="tx1"/>
                </a:solidFill>
              </a:rPr>
              <a:t>Chunks both Base Policy v7 (age limit 65) and the amended circular (age limit 70)</a:t>
            </a:r>
            <a:endParaRPr lang="en-US" sz="1800" dirty="0"/>
          </a:p>
          <a:p>
            <a:pPr indent="0" marL="0">
              <a:spcAft>
                <a:spcPts val="1200"/>
              </a:spcAft>
              <a:buNone/>
            </a:pPr>
            <a:r>
              <a:rPr lang="en-US" sz="1800" b="1" dirty="0">
                <a:solidFill>
                  <a:schemeClr val="accent3"/>
                </a:solidFill>
              </a:rPr>
              <a:t>Outcome: </a:t>
            </a:r>
            <a:r>
              <a:rPr lang="en-US" sz="1800" dirty="0">
                <a:solidFill>
                  <a:schemeClr val="tx1"/>
                </a:solidFill>
              </a:rPr>
              <a:t>May silently return the superseded age limit, giving a wrong rejection or approval</a:t>
            </a:r>
            <a:endParaRPr lang="en-US" sz="1800" dirty="0"/>
          </a:p>
          <a:p>
            <a:pPr indent="0" marL="0">
              <a:spcAft>
                <a:spcPts val="1200"/>
              </a:spcAft>
              <a:buNone/>
            </a:pPr>
            <a:r>
              <a:rPr lang="en-US" sz="1800" b="1" dirty="0">
                <a:solidFill>
                  <a:schemeClr val="accent3"/>
                </a:solidFill>
              </a:rPr>
              <a:t>Failure mode: </a:t>
            </a:r>
            <a:r>
              <a:rPr lang="en-US" sz="1800" dirty="0">
                <a:solidFill>
                  <a:schemeClr val="tx1"/>
                </a:solidFill>
              </a:rPr>
              <a:t>Silent, no error raised</a:t>
            </a:r>
            <a:endParaRPr lang="en-US" sz="1800" dirty="0"/>
          </a:p>
        </p:txBody>
      </p:sp>
      <p:sp>
        <p:nvSpPr>
          <p:cNvPr id="8" name="Outcome OKF"/>
          <p:cNvSpPr/>
          <p:nvPr/>
        </p:nvSpPr>
        <p:spPr>
          <a:xfrm>
            <a:off x="6245352" y="1554480"/>
            <a:ext cx="5394960" cy="3749040"/>
          </a:xfrm>
          <a:prstGeom prst="roundRect">
            <a:avLst>
              <a:gd name="adj" fmla="val 2927"/>
            </a:avLst>
          </a:prstGeom>
          <a:solidFill>
            <a:schemeClr val="bg2"/>
          </a:solidFill>
          <a:ln w="12700">
            <a:solidFill>
              <a:schemeClr val="bg2"/>
            </a:solidFill>
            <a:prstDash val="solid"/>
          </a:ln>
        </p:spPr>
      </p:sp>
      <p:sp>
        <p:nvSpPr>
          <p:cNvPr id="9" name="Tag OKF"/>
          <p:cNvSpPr/>
          <p:nvPr/>
        </p:nvSpPr>
        <p:spPr>
          <a:xfrm>
            <a:off x="6519672" y="1737360"/>
            <a:ext cx="2011680" cy="365760"/>
          </a:xfrm>
          <a:prstGeom prst="roundRect">
            <a:avLst>
              <a:gd name="adj" fmla="val 24000"/>
            </a:avLst>
          </a:prstGeom>
          <a:solidFill>
            <a:schemeClr val="accent1"/>
          </a:solidFill>
          <a:ln w="12700">
            <a:solidFill>
              <a:schemeClr val="accent1"/>
            </a:solidFill>
            <a:prstDash val="solid"/>
          </a:ln>
        </p:spPr>
      </p:sp>
      <p:sp>
        <p:nvSpPr>
          <p:cNvPr id="10" name="Tag text OKF"/>
          <p:cNvSpPr txBox="1"/>
          <p:nvPr/>
        </p:nvSpPr>
        <p:spPr>
          <a:xfrm>
            <a:off x="6519672" y="1737360"/>
            <a:ext cx="2011680" cy="365760"/>
          </a:xfrm>
          <a:prstGeom prst="rect">
            <a:avLst/>
          </a:prstGeom>
          <a:noFill/>
          <a:ln/>
        </p:spPr>
        <p:txBody>
          <a:bodyPr wrap="square" lIns="0" tIns="0" rIns="0" bIns="0" rtlCol="0" anchor="ctr"/>
          <a:lstStyle/>
          <a:p>
            <a:pPr algn="ctr" indent="0" marL="0">
              <a:buNone/>
            </a:pPr>
            <a:r>
              <a:rPr lang="en-US" sz="1600" b="1" dirty="0">
                <a:solidFill>
                  <a:schemeClr val="bg1"/>
                </a:solidFill>
              </a:rPr>
              <a:t>OKF</a:t>
            </a:r>
            <a:endParaRPr lang="en-US" sz="1600" dirty="0"/>
          </a:p>
        </p:txBody>
      </p:sp>
      <p:sp>
        <p:nvSpPr>
          <p:cNvPr id="11" name="Body OKF"/>
          <p:cNvSpPr txBox="1"/>
          <p:nvPr/>
        </p:nvSpPr>
        <p:spPr>
          <a:xfrm>
            <a:off x="6611112" y="2286000"/>
            <a:ext cx="4663440" cy="2926080"/>
          </a:xfrm>
          <a:prstGeom prst="rect">
            <a:avLst/>
          </a:prstGeom>
          <a:noFill/>
          <a:ln/>
        </p:spPr>
        <p:txBody>
          <a:bodyPr wrap="square" lIns="0" tIns="0" rIns="0" bIns="0" rtlCol="0" anchor="t"/>
          <a:lstStyle/>
          <a:p>
            <a:pPr indent="0" marL="0">
              <a:spcAft>
                <a:spcPts val="1200"/>
              </a:spcAft>
              <a:buNone/>
            </a:pPr>
            <a:r>
              <a:rPr lang="en-US" sz="1800" b="1" dirty="0">
                <a:solidFill>
                  <a:schemeClr val="accent1"/>
                </a:solidFill>
              </a:rPr>
              <a:t>Reads: </a:t>
            </a:r>
            <a:r>
              <a:rPr lang="en-US" sz="1800" dirty="0">
                <a:solidFill>
                  <a:schemeClr val="tx1"/>
                </a:solidFill>
              </a:rPr>
              <a:t>One markdown page: the LLM Curator reconciled the circular with the credit policy in advance</a:t>
            </a:r>
            <a:endParaRPr lang="en-US" sz="1800" dirty="0"/>
          </a:p>
          <a:p>
            <a:pPr indent="0" marL="0">
              <a:spcAft>
                <a:spcPts val="1200"/>
              </a:spcAft>
              <a:buNone/>
            </a:pPr>
            <a:r>
              <a:rPr lang="en-US" sz="1800" b="1" dirty="0">
                <a:solidFill>
                  <a:schemeClr val="accent1"/>
                </a:solidFill>
              </a:rPr>
              <a:t>Outcome: </a:t>
            </a:r>
            <a:r>
              <a:rPr lang="en-US" sz="1800" dirty="0">
                <a:solidFill>
                  <a:schemeClr val="tx1"/>
                </a:solidFill>
              </a:rPr>
              <a:t>Accurate answer from a single source of truth</a:t>
            </a:r>
            <a:endParaRPr lang="en-US" sz="1800" dirty="0"/>
          </a:p>
          <a:p>
            <a:pPr indent="0" marL="0">
              <a:spcAft>
                <a:spcPts val="1200"/>
              </a:spcAft>
              <a:buNone/>
            </a:pPr>
            <a:r>
              <a:rPr lang="en-US" sz="1800" b="1" dirty="0">
                <a:solidFill>
                  <a:schemeClr val="accent1"/>
                </a:solidFill>
              </a:rPr>
              <a:t>Caveat: </a:t>
            </a:r>
            <a:r>
              <a:rPr lang="en-US" sz="1800" dirty="0">
                <a:solidFill>
                  <a:schemeClr val="tx1"/>
                </a:solidFill>
              </a:rPr>
              <a:t>Only as right as the last review</a:t>
            </a:r>
            <a:endParaRPr lang="en-US" sz="1800" dirty="0"/>
          </a:p>
        </p:txBody>
      </p:sp>
      <p:sp>
        <p:nvSpPr>
          <p:cNvPr id="12" name="Verdict strip"/>
          <p:cNvSpPr/>
          <p:nvPr/>
        </p:nvSpPr>
        <p:spPr>
          <a:xfrm>
            <a:off x="548640" y="5486400"/>
            <a:ext cx="11091672" cy="685800"/>
          </a:xfrm>
          <a:prstGeom prst="roundRect">
            <a:avLst>
              <a:gd name="adj" fmla="val 16000"/>
            </a:avLst>
          </a:prstGeom>
          <a:solidFill>
            <a:schemeClr val="tx2"/>
          </a:solidFill>
          <a:ln w="12700">
            <a:solidFill>
              <a:schemeClr val="tx2"/>
            </a:solidFill>
            <a:prstDash val="solid"/>
          </a:ln>
        </p:spPr>
      </p:sp>
      <p:sp>
        <p:nvSpPr>
          <p:cNvPr id="13" name="Verdict text"/>
          <p:cNvSpPr txBox="1"/>
          <p:nvPr/>
        </p:nvSpPr>
        <p:spPr>
          <a:xfrm>
            <a:off x="731520" y="5486400"/>
            <a:ext cx="10698480" cy="685800"/>
          </a:xfrm>
          <a:prstGeom prst="rect">
            <a:avLst/>
          </a:prstGeom>
          <a:noFill/>
          <a:ln/>
        </p:spPr>
        <p:txBody>
          <a:bodyPr wrap="square" lIns="0" tIns="0" rIns="0" bIns="0" rtlCol="0" anchor="ctr"/>
          <a:lstStyle/>
          <a:p>
            <a:pPr indent="0" marL="0">
              <a:buNone/>
            </a:pPr>
            <a:r>
              <a:rPr lang="en-US" sz="1800" b="1" dirty="0">
                <a:solidFill>
                  <a:schemeClr val="bg1"/>
                </a:solidFill>
              </a:rPr>
              <a:t>Risk shifts from silent retrieval errors to a governed curation process</a:t>
            </a:r>
            <a:endParaRPr lang="en-US" sz="1800" dirty="0"/>
          </a:p>
        </p:txBody>
      </p:sp>
      <p:sp>
        <p:nvSpPr>
          <p:cNvPr id="90" name="Slide Number Placeholder 0"/>
          <p:cNvSpPr>
            <a:spLocks noGrp="1"/>
          </p:cNvSpPr>
          <p:nvPr>
            <p:ph type="sldNum" sz="quarter" idx="4294967295"/>
          </p:nvPr>
        </p:nvSpPr>
        <p:spPr>
          <a:xfrm>
            <a:off x="11064240" y="6400800"/>
            <a:ext cx="576072" cy="274320"/>
          </a:xfrm>
          <a:prstGeom prst="rect">
            <a:avLst/>
          </a:prstGeom>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05840"/>
          </a:xfrm>
          <a:prstGeom prst="rect">
            <a:avLst/>
          </a:prstGeom>
          <a:noFill/>
          <a:ln/>
        </p:spPr>
        <p:txBody>
          <a:bodyPr wrap="square" lIns="0" tIns="0" rIns="0" bIns="0" rtlCol="0" anchor="ctr"/>
          <a:lstStyle/>
          <a:p>
            <a:pPr algn="l" indent="0" marL="0">
              <a:buNone/>
            </a:pPr>
            <a:r>
              <a:rPr lang="en-US" sz="3400" b="1" dirty="0">
                <a:solidFill>
                  <a:schemeClr val="tx2"/>
                </a:solidFill>
              </a:rPr>
              <a:t>Will Costs Drop? Follow the Money</a:t>
            </a:r>
            <a:endParaRPr lang="en-US" sz="3400" dirty="0"/>
          </a:p>
        </p:txBody>
      </p:sp>
      <p:sp>
        <p:nvSpPr>
          <p:cNvPr id="3" name="Cost Infrastructure"/>
          <p:cNvSpPr/>
          <p:nvPr/>
        </p:nvSpPr>
        <p:spPr>
          <a:xfrm>
            <a:off x="548640" y="1554480"/>
            <a:ext cx="3520440" cy="3840480"/>
          </a:xfrm>
          <a:prstGeom prst="roundRect">
            <a:avLst>
              <a:gd name="adj" fmla="val 3117"/>
            </a:avLst>
          </a:prstGeom>
          <a:solidFill>
            <a:schemeClr val="bg2"/>
          </a:solidFill>
          <a:ln w="12700">
            <a:solidFill>
              <a:schemeClr val="bg2"/>
            </a:solidFill>
            <a:prstDash val="solid"/>
          </a:ln>
        </p:spPr>
      </p:sp>
      <p:sp>
        <p:nvSpPr>
          <p:cNvPr id="4" name="Cost badge Infrastructure"/>
          <p:cNvSpPr/>
          <p:nvPr/>
        </p:nvSpPr>
        <p:spPr>
          <a:xfrm>
            <a:off x="822960" y="1828800"/>
            <a:ext cx="548640" cy="548640"/>
          </a:xfrm>
          <a:prstGeom prst="ellipse">
            <a:avLst/>
          </a:prstGeom>
          <a:solidFill>
            <a:schemeClr val="tx2"/>
          </a:solidFill>
          <a:ln w="12700">
            <a:solidFill>
              <a:schemeClr val="tx2"/>
            </a:solidFill>
            <a:prstDash val="solid"/>
          </a:ln>
        </p:spPr>
      </p:sp>
      <p:sp>
        <p:nvSpPr>
          <p:cNvPr id="5" name="Text 3"/>
          <p:cNvSpPr txBox="1"/>
          <p:nvPr/>
        </p:nvSpPr>
        <p:spPr>
          <a:xfrm>
            <a:off x="822960" y="18288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554480" y="1828800"/>
            <a:ext cx="2286000" cy="54864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Infrastructure</a:t>
            </a:r>
            <a:endParaRPr lang="en-US" sz="2200" dirty="0"/>
          </a:p>
        </p:txBody>
      </p:sp>
      <p:sp>
        <p:nvSpPr>
          <p:cNvPr id="7" name="Text 5"/>
          <p:cNvSpPr txBox="1"/>
          <p:nvPr/>
        </p:nvSpPr>
        <p:spPr>
          <a:xfrm>
            <a:off x="822960" y="2743200"/>
            <a:ext cx="3017520" cy="73152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Lower</a:t>
            </a:r>
            <a:endParaRPr lang="en-US" sz="4000" dirty="0"/>
          </a:p>
        </p:txBody>
      </p:sp>
      <p:sp>
        <p:nvSpPr>
          <p:cNvPr id="8" name="Text 6"/>
          <p:cNvSpPr txBox="1"/>
          <p:nvPr/>
        </p:nvSpPr>
        <p:spPr>
          <a:xfrm>
            <a:off x="822960" y="3749040"/>
            <a:ext cx="3017520" cy="1371600"/>
          </a:xfrm>
          <a:prstGeom prst="rect">
            <a:avLst/>
          </a:prstGeom>
          <a:noFill/>
          <a:ln/>
        </p:spPr>
        <p:txBody>
          <a:bodyPr wrap="square" lIns="0" tIns="0" rIns="0" bIns="0" rtlCol="0" anchor="t"/>
          <a:lstStyle/>
          <a:p>
            <a:pPr indent="0" marL="0">
              <a:buNone/>
            </a:pPr>
            <a:r>
              <a:rPr lang="en-US" sz="1600" dirty="0">
                <a:solidFill>
                  <a:schemeClr val="tx1"/>
                </a:solidFill>
              </a:rPr>
              <a:t>No vector DB license or index operations for the OKF core</a:t>
            </a:r>
            <a:endParaRPr lang="en-US" sz="1600" dirty="0"/>
          </a:p>
        </p:txBody>
      </p:sp>
      <p:sp>
        <p:nvSpPr>
          <p:cNvPr id="9" name="Cost Tokens"/>
          <p:cNvSpPr/>
          <p:nvPr/>
        </p:nvSpPr>
        <p:spPr>
          <a:xfrm>
            <a:off x="4334256" y="1554480"/>
            <a:ext cx="3520440" cy="3840480"/>
          </a:xfrm>
          <a:prstGeom prst="roundRect">
            <a:avLst>
              <a:gd name="adj" fmla="val 3117"/>
            </a:avLst>
          </a:prstGeom>
          <a:solidFill>
            <a:schemeClr val="bg2"/>
          </a:solidFill>
          <a:ln w="12700">
            <a:solidFill>
              <a:schemeClr val="bg2"/>
            </a:solidFill>
            <a:prstDash val="solid"/>
          </a:ln>
        </p:spPr>
      </p:sp>
      <p:sp>
        <p:nvSpPr>
          <p:cNvPr id="10" name="Cost badge Tokens"/>
          <p:cNvSpPr/>
          <p:nvPr/>
        </p:nvSpPr>
        <p:spPr>
          <a:xfrm>
            <a:off x="4608576" y="1828800"/>
            <a:ext cx="548640" cy="548640"/>
          </a:xfrm>
          <a:prstGeom prst="ellipse">
            <a:avLst/>
          </a:prstGeom>
          <a:solidFill>
            <a:schemeClr val="tx2"/>
          </a:solidFill>
          <a:ln w="12700">
            <a:solidFill>
              <a:schemeClr val="tx2"/>
            </a:solidFill>
            <a:prstDash val="solid"/>
          </a:ln>
        </p:spPr>
      </p:sp>
      <p:sp>
        <p:nvSpPr>
          <p:cNvPr id="11" name="Text 9"/>
          <p:cNvSpPr txBox="1"/>
          <p:nvPr/>
        </p:nvSpPr>
        <p:spPr>
          <a:xfrm>
            <a:off x="4608576" y="18288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5340096" y="1828800"/>
            <a:ext cx="2286000" cy="54864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Tokens</a:t>
            </a:r>
            <a:endParaRPr lang="en-US" sz="2200" dirty="0"/>
          </a:p>
        </p:txBody>
      </p:sp>
      <p:sp>
        <p:nvSpPr>
          <p:cNvPr id="13" name="Text 11"/>
          <p:cNvSpPr txBox="1"/>
          <p:nvPr/>
        </p:nvSpPr>
        <p:spPr>
          <a:xfrm>
            <a:off x="4608576" y="2743200"/>
            <a:ext cx="3017520" cy="73152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Lower</a:t>
            </a:r>
            <a:endParaRPr lang="en-US" sz="4000" dirty="0"/>
          </a:p>
        </p:txBody>
      </p:sp>
      <p:sp>
        <p:nvSpPr>
          <p:cNvPr id="14" name="Text 12"/>
          <p:cNvSpPr txBox="1"/>
          <p:nvPr/>
        </p:nvSpPr>
        <p:spPr>
          <a:xfrm>
            <a:off x="4608576" y="3749040"/>
            <a:ext cx="3017520" cy="1371600"/>
          </a:xfrm>
          <a:prstGeom prst="rect">
            <a:avLst/>
          </a:prstGeom>
          <a:noFill/>
          <a:ln/>
        </p:spPr>
        <p:txBody>
          <a:bodyPr wrap="square" lIns="0" tIns="0" rIns="0" bIns="0" rtlCol="0" anchor="t"/>
          <a:lstStyle/>
          <a:p>
            <a:pPr indent="0" marL="0">
              <a:buNone/>
            </a:pPr>
            <a:r>
              <a:rPr lang="en-US" sz="1600" dirty="0">
                <a:solidFill>
                  <a:schemeClr val="tx1"/>
                </a:solidFill>
              </a:rPr>
              <a:t>Compact curated pages replace repeated retrieval loops</a:t>
            </a:r>
            <a:endParaRPr lang="en-US" sz="1600" dirty="0"/>
          </a:p>
        </p:txBody>
      </p:sp>
      <p:sp>
        <p:nvSpPr>
          <p:cNvPr id="15" name="Cost Curation"/>
          <p:cNvSpPr/>
          <p:nvPr/>
        </p:nvSpPr>
        <p:spPr>
          <a:xfrm>
            <a:off x="8119872" y="1554480"/>
            <a:ext cx="3520440" cy="3840480"/>
          </a:xfrm>
          <a:prstGeom prst="roundRect">
            <a:avLst>
              <a:gd name="adj" fmla="val 3117"/>
            </a:avLst>
          </a:prstGeom>
          <a:solidFill>
            <a:schemeClr val="bg2"/>
          </a:solidFill>
          <a:ln w="12700">
            <a:solidFill>
              <a:schemeClr val="bg2"/>
            </a:solidFill>
            <a:prstDash val="solid"/>
          </a:ln>
        </p:spPr>
      </p:sp>
      <p:sp>
        <p:nvSpPr>
          <p:cNvPr id="16" name="Cost badge Curation"/>
          <p:cNvSpPr/>
          <p:nvPr/>
        </p:nvSpPr>
        <p:spPr>
          <a:xfrm>
            <a:off x="8394192" y="1828800"/>
            <a:ext cx="548640" cy="548640"/>
          </a:xfrm>
          <a:prstGeom prst="ellipse">
            <a:avLst/>
          </a:prstGeom>
          <a:solidFill>
            <a:schemeClr val="tx2"/>
          </a:solidFill>
          <a:ln w="12700">
            <a:solidFill>
              <a:schemeClr val="tx2"/>
            </a:solidFill>
            <a:prstDash val="solid"/>
          </a:ln>
        </p:spPr>
      </p:sp>
      <p:sp>
        <p:nvSpPr>
          <p:cNvPr id="17" name="Text 15"/>
          <p:cNvSpPr txBox="1"/>
          <p:nvPr/>
        </p:nvSpPr>
        <p:spPr>
          <a:xfrm>
            <a:off x="8394192" y="18288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6"/>
          <p:cNvSpPr txBox="1"/>
          <p:nvPr/>
        </p:nvSpPr>
        <p:spPr>
          <a:xfrm>
            <a:off x="9125712" y="1828800"/>
            <a:ext cx="2286000" cy="54864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Curation</a:t>
            </a:r>
            <a:endParaRPr lang="en-US" sz="2200" dirty="0"/>
          </a:p>
        </p:txBody>
      </p:sp>
      <p:sp>
        <p:nvSpPr>
          <p:cNvPr id="19" name="Text 17"/>
          <p:cNvSpPr txBox="1"/>
          <p:nvPr/>
        </p:nvSpPr>
        <p:spPr>
          <a:xfrm>
            <a:off x="8394192" y="2743200"/>
            <a:ext cx="3017520" cy="73152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New cost</a:t>
            </a:r>
            <a:endParaRPr lang="en-US" sz="4000" dirty="0"/>
          </a:p>
        </p:txBody>
      </p:sp>
      <p:sp>
        <p:nvSpPr>
          <p:cNvPr id="20" name="Text 18"/>
          <p:cNvSpPr txBox="1"/>
          <p:nvPr/>
        </p:nvSpPr>
        <p:spPr>
          <a:xfrm>
            <a:off x="8394192" y="3749040"/>
            <a:ext cx="3017520" cy="1371600"/>
          </a:xfrm>
          <a:prstGeom prst="rect">
            <a:avLst/>
          </a:prstGeom>
          <a:noFill/>
          <a:ln/>
        </p:spPr>
        <p:txBody>
          <a:bodyPr wrap="square" lIns="0" tIns="0" rIns="0" bIns="0" rtlCol="0" anchor="t"/>
          <a:lstStyle/>
          <a:p>
            <a:pPr indent="0" marL="0">
              <a:buNone/>
            </a:pPr>
            <a:r>
              <a:rPr lang="en-US" sz="1600" dirty="0">
                <a:solidFill>
                  <a:schemeClr val="tx1"/>
                </a:solidFill>
              </a:rPr>
              <a:t>LLM compile cycles plus human review, sized by change rate</a:t>
            </a:r>
            <a:endParaRPr lang="en-US" sz="1600" dirty="0"/>
          </a:p>
        </p:txBody>
      </p:sp>
      <p:sp>
        <p:nvSpPr>
          <p:cNvPr id="21" name="Net"/>
          <p:cNvSpPr/>
          <p:nvPr/>
        </p:nvSpPr>
        <p:spPr>
          <a:xfrm>
            <a:off x="548640" y="5577840"/>
            <a:ext cx="11091672" cy="640080"/>
          </a:xfrm>
          <a:prstGeom prst="roundRect">
            <a:avLst>
              <a:gd name="adj" fmla="val 17143"/>
            </a:avLst>
          </a:prstGeom>
          <a:solidFill>
            <a:schemeClr val="tx2"/>
          </a:solidFill>
          <a:ln w="12700">
            <a:solidFill>
              <a:schemeClr val="tx2"/>
            </a:solidFill>
            <a:prstDash val="solid"/>
          </a:ln>
        </p:spPr>
      </p:sp>
      <p:sp>
        <p:nvSpPr>
          <p:cNvPr id="22" name="Text 20"/>
          <p:cNvSpPr txBox="1"/>
          <p:nvPr/>
        </p:nvSpPr>
        <p:spPr>
          <a:xfrm>
            <a:off x="731520" y="5577840"/>
            <a:ext cx="10698480" cy="640080"/>
          </a:xfrm>
          <a:prstGeom prst="rect">
            <a:avLst/>
          </a:prstGeom>
          <a:noFill/>
          <a:ln/>
        </p:spPr>
        <p:txBody>
          <a:bodyPr wrap="square" lIns="0" tIns="0" rIns="0" bIns="0" rtlCol="0" anchor="ctr"/>
          <a:lstStyle/>
          <a:p>
            <a:pPr indent="0" marL="0">
              <a:buNone/>
            </a:pPr>
            <a:r>
              <a:rPr lang="en-US" sz="2000" b="1" dirty="0">
                <a:solidFill>
                  <a:schemeClr val="bg1"/>
                </a:solidFill>
              </a:rPr>
              <a:t>Net: savings are likely, but workload-dependent</a:t>
            </a:r>
            <a:endParaRPr lang="en-US" sz="20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05840"/>
          </a:xfrm>
          <a:prstGeom prst="rect">
            <a:avLst/>
          </a:prstGeom>
          <a:noFill/>
          <a:ln/>
        </p:spPr>
        <p:txBody>
          <a:bodyPr wrap="square" lIns="0" tIns="0" rIns="0" bIns="0" rtlCol="0" anchor="ctr"/>
          <a:lstStyle/>
          <a:p>
            <a:pPr algn="l" indent="0" marL="0">
              <a:buNone/>
            </a:pPr>
            <a:r>
              <a:rPr lang="en-US" sz="3400" b="1" dirty="0">
                <a:solidFill>
                  <a:schemeClr val="tx2"/>
                </a:solidFill>
              </a:rPr>
              <a:t>Illustrative Annual Cost Model</a:t>
            </a:r>
            <a:endParaRPr lang="en-US" sz="3400" dirty="0"/>
          </a:p>
        </p:txBody>
      </p:sp>
      <p:graphicFrame>
        <p:nvGraphicFramePr>
          <p:cNvPr id="3" name="Cost chart" descr=""/>
          <p:cNvGraphicFramePr/>
          <p:nvPr/>
        </p:nvGraphicFramePr>
        <p:xfrm>
          <a:off x="548640" y="155448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4" name="Callout Savings zone"/>
          <p:cNvSpPr/>
          <p:nvPr/>
        </p:nvSpPr>
        <p:spPr>
          <a:xfrm>
            <a:off x="7680960" y="1554480"/>
            <a:ext cx="3959352" cy="1371600"/>
          </a:xfrm>
          <a:prstGeom prst="roundRect">
            <a:avLst>
              <a:gd name="adj" fmla="val 8000"/>
            </a:avLst>
          </a:prstGeom>
          <a:solidFill>
            <a:schemeClr val="accent1"/>
          </a:solidFill>
          <a:ln w="12700">
            <a:solidFill>
              <a:schemeClr val="accent1"/>
            </a:solidFill>
            <a:prstDash val="solid"/>
          </a:ln>
        </p:spPr>
      </p:sp>
      <p:sp>
        <p:nvSpPr>
          <p:cNvPr id="5" name="Text 2"/>
          <p:cNvSpPr txBox="1"/>
          <p:nvPr/>
        </p:nvSpPr>
        <p:spPr>
          <a:xfrm>
            <a:off x="7955280" y="1737360"/>
            <a:ext cx="3474720" cy="36576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Savings zone</a:t>
            </a:r>
            <a:endParaRPr lang="en-US" sz="2000" dirty="0"/>
          </a:p>
        </p:txBody>
      </p:sp>
      <p:sp>
        <p:nvSpPr>
          <p:cNvPr id="6" name="Text 3"/>
          <p:cNvSpPr txBox="1"/>
          <p:nvPr/>
        </p:nvSpPr>
        <p:spPr>
          <a:xfrm>
            <a:off x="7955280" y="2194560"/>
            <a:ext cx="3474720" cy="640080"/>
          </a:xfrm>
          <a:prstGeom prst="rect">
            <a:avLst/>
          </a:prstGeom>
          <a:noFill/>
          <a:ln/>
        </p:spPr>
        <p:txBody>
          <a:bodyPr wrap="square" lIns="0" tIns="0" rIns="0" bIns="0" rtlCol="0" anchor="t"/>
          <a:lstStyle/>
          <a:p>
            <a:pPr indent="0" marL="0">
              <a:buNone/>
            </a:pPr>
            <a:r>
              <a:rPr lang="en-US" sz="1600" dirty="0">
                <a:solidFill>
                  <a:schemeClr val="bg1"/>
                </a:solidFill>
              </a:rPr>
              <a:t>High query volume, stable policies</a:t>
            </a:r>
            <a:endParaRPr lang="en-US" sz="1600" dirty="0"/>
          </a:p>
        </p:txBody>
      </p:sp>
      <p:sp>
        <p:nvSpPr>
          <p:cNvPr id="7" name="Callout Risk zone"/>
          <p:cNvSpPr/>
          <p:nvPr/>
        </p:nvSpPr>
        <p:spPr>
          <a:xfrm>
            <a:off x="7680960" y="3108960"/>
            <a:ext cx="3959352" cy="1371600"/>
          </a:xfrm>
          <a:prstGeom prst="roundRect">
            <a:avLst>
              <a:gd name="adj" fmla="val 8000"/>
            </a:avLst>
          </a:prstGeom>
          <a:solidFill>
            <a:schemeClr val="accent3"/>
          </a:solidFill>
          <a:ln w="12700">
            <a:solidFill>
              <a:schemeClr val="accent3"/>
            </a:solidFill>
            <a:prstDash val="solid"/>
          </a:ln>
        </p:spPr>
      </p:sp>
      <p:sp>
        <p:nvSpPr>
          <p:cNvPr id="8" name="Text 5"/>
          <p:cNvSpPr txBox="1"/>
          <p:nvPr/>
        </p:nvSpPr>
        <p:spPr>
          <a:xfrm>
            <a:off x="7955280" y="3291840"/>
            <a:ext cx="3474720" cy="36576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Risk zone</a:t>
            </a:r>
            <a:endParaRPr lang="en-US" sz="2000" dirty="0"/>
          </a:p>
        </p:txBody>
      </p:sp>
      <p:sp>
        <p:nvSpPr>
          <p:cNvPr id="9" name="Text 6"/>
          <p:cNvSpPr txBox="1"/>
          <p:nvPr/>
        </p:nvSpPr>
        <p:spPr>
          <a:xfrm>
            <a:off x="7955280" y="3749040"/>
            <a:ext cx="3474720" cy="640080"/>
          </a:xfrm>
          <a:prstGeom prst="rect">
            <a:avLst/>
          </a:prstGeom>
          <a:noFill/>
          <a:ln/>
        </p:spPr>
        <p:txBody>
          <a:bodyPr wrap="square" lIns="0" tIns="0" rIns="0" bIns="0" rtlCol="0" anchor="t"/>
          <a:lstStyle/>
          <a:p>
            <a:pPr indent="0" marL="0">
              <a:buNone/>
            </a:pPr>
            <a:r>
              <a:rPr lang="en-US" sz="1600" dirty="0">
                <a:solidFill>
                  <a:schemeClr val="bg1"/>
                </a:solidFill>
              </a:rPr>
              <a:t>Rare questions, fast-changing rules</a:t>
            </a:r>
            <a:endParaRPr lang="en-US" sz="1600" dirty="0"/>
          </a:p>
        </p:txBody>
      </p:sp>
      <p:sp>
        <p:nvSpPr>
          <p:cNvPr id="10" name="Callout Next step"/>
          <p:cNvSpPr/>
          <p:nvPr/>
        </p:nvSpPr>
        <p:spPr>
          <a:xfrm>
            <a:off x="7680960" y="4663440"/>
            <a:ext cx="3959352" cy="1371600"/>
          </a:xfrm>
          <a:prstGeom prst="roundRect">
            <a:avLst>
              <a:gd name="adj" fmla="val 8000"/>
            </a:avLst>
          </a:prstGeom>
          <a:solidFill>
            <a:schemeClr val="tx2"/>
          </a:solidFill>
          <a:ln w="12700">
            <a:solidFill>
              <a:schemeClr val="tx2"/>
            </a:solidFill>
            <a:prstDash val="solid"/>
          </a:ln>
        </p:spPr>
      </p:sp>
      <p:sp>
        <p:nvSpPr>
          <p:cNvPr id="11" name="Text 8"/>
          <p:cNvSpPr txBox="1"/>
          <p:nvPr/>
        </p:nvSpPr>
        <p:spPr>
          <a:xfrm>
            <a:off x="7955280" y="4846320"/>
            <a:ext cx="3474720" cy="36576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Next step</a:t>
            </a:r>
            <a:endParaRPr lang="en-US" sz="2000" dirty="0"/>
          </a:p>
        </p:txBody>
      </p:sp>
      <p:sp>
        <p:nvSpPr>
          <p:cNvPr id="12" name="Text 9"/>
          <p:cNvSpPr txBox="1"/>
          <p:nvPr/>
        </p:nvSpPr>
        <p:spPr>
          <a:xfrm>
            <a:off x="7955280" y="5303520"/>
            <a:ext cx="3474720" cy="640080"/>
          </a:xfrm>
          <a:prstGeom prst="rect">
            <a:avLst/>
          </a:prstGeom>
          <a:noFill/>
          <a:ln/>
        </p:spPr>
        <p:txBody>
          <a:bodyPr wrap="square" lIns="0" tIns="0" rIns="0" bIns="0" rtlCol="0" anchor="t"/>
          <a:lstStyle/>
          <a:p>
            <a:pPr indent="0" marL="0">
              <a:buNone/>
            </a:pPr>
            <a:r>
              <a:rPr lang="en-US" sz="1600" dirty="0">
                <a:solidFill>
                  <a:schemeClr val="bg1"/>
                </a:solidFill>
              </a:rPr>
              <a:t>Replace with your token and review rates</a:t>
            </a:r>
            <a:endParaRPr lang="en-US" sz="16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05840"/>
          </a:xfrm>
          <a:prstGeom prst="rect">
            <a:avLst/>
          </a:prstGeom>
          <a:noFill/>
          <a:ln/>
        </p:spPr>
        <p:txBody>
          <a:bodyPr wrap="square" lIns="0" tIns="0" rIns="0" bIns="0" rtlCol="0" anchor="ctr"/>
          <a:lstStyle/>
          <a:p>
            <a:pPr algn="l" indent="0" marL="0">
              <a:buNone/>
            </a:pPr>
            <a:r>
              <a:rPr lang="en-US" sz="3400" b="1" dirty="0">
                <a:solidFill>
                  <a:schemeClr val="tx2"/>
                </a:solidFill>
              </a:rPr>
              <a:t>OKF: Pros, Cons, Limits</a:t>
            </a:r>
            <a:endParaRPr lang="en-US" sz="3400" dirty="0"/>
          </a:p>
        </p:txBody>
      </p:sp>
      <p:sp>
        <p:nvSpPr>
          <p:cNvPr id="3" name="Col Pros"/>
          <p:cNvSpPr/>
          <p:nvPr/>
        </p:nvSpPr>
        <p:spPr>
          <a:xfrm>
            <a:off x="548640" y="1554480"/>
            <a:ext cx="3520440" cy="4572000"/>
          </a:xfrm>
          <a:prstGeom prst="roundRect">
            <a:avLst>
              <a:gd name="adj" fmla="val 3117"/>
            </a:avLst>
          </a:prstGeom>
          <a:solidFill>
            <a:schemeClr val="bg2"/>
          </a:solidFill>
          <a:ln w="12700">
            <a:solidFill>
              <a:schemeClr val="bg2"/>
            </a:solidFill>
            <a:prstDash val="solid"/>
          </a:ln>
        </p:spPr>
      </p:sp>
      <p:sp>
        <p:nvSpPr>
          <p:cNvPr id="4" name="Head Pros"/>
          <p:cNvSpPr/>
          <p:nvPr/>
        </p:nvSpPr>
        <p:spPr>
          <a:xfrm>
            <a:off x="822960" y="1828800"/>
            <a:ext cx="1463040" cy="457200"/>
          </a:xfrm>
          <a:prstGeom prst="roundRect">
            <a:avLst>
              <a:gd name="adj" fmla="val 24000"/>
            </a:avLst>
          </a:prstGeom>
          <a:solidFill>
            <a:schemeClr val="accent1"/>
          </a:solidFill>
          <a:ln w="12700">
            <a:solidFill>
              <a:schemeClr val="accent1"/>
            </a:solidFill>
            <a:prstDash val="solid"/>
          </a:ln>
        </p:spPr>
      </p:sp>
      <p:sp>
        <p:nvSpPr>
          <p:cNvPr id="5" name="Text 3"/>
          <p:cNvSpPr txBox="1"/>
          <p:nvPr/>
        </p:nvSpPr>
        <p:spPr>
          <a:xfrm>
            <a:off x="822960" y="1828800"/>
            <a:ext cx="1463040" cy="457200"/>
          </a:xfrm>
          <a:prstGeom prst="rect">
            <a:avLst/>
          </a:prstGeom>
          <a:noFill/>
          <a:ln/>
        </p:spPr>
        <p:txBody>
          <a:bodyPr wrap="square" lIns="0" tIns="0" rIns="0" bIns="0" rtlCol="0" anchor="ctr"/>
          <a:lstStyle/>
          <a:p>
            <a:pPr algn="ctr" indent="0" marL="0">
              <a:buNone/>
            </a:pPr>
            <a:r>
              <a:rPr lang="en-US" sz="1800" b="1" dirty="0">
                <a:solidFill>
                  <a:schemeClr val="bg1"/>
                </a:solidFill>
              </a:rPr>
              <a:t>Pros</a:t>
            </a:r>
            <a:endParaRPr lang="en-US" sz="1800" dirty="0"/>
          </a:p>
        </p:txBody>
      </p:sp>
      <p:sp>
        <p:nvSpPr>
          <p:cNvPr id="6" name="Text 4"/>
          <p:cNvSpPr txBox="1"/>
          <p:nvPr/>
        </p:nvSpPr>
        <p:spPr>
          <a:xfrm>
            <a:off x="822960" y="2651760"/>
            <a:ext cx="3017520" cy="3291840"/>
          </a:xfrm>
          <a:prstGeom prst="rect">
            <a:avLst/>
          </a:prstGeom>
          <a:noFill/>
          <a:ln/>
        </p:spPr>
        <p:txBody>
          <a:bodyPr wrap="square" lIns="0" tIns="0" rIns="0" bIns="0" rtlCol="0" anchor="t"/>
          <a:lstStyle/>
          <a:p>
            <a:pPr indent="0" marL="0">
              <a:spcAft>
                <a:spcPts val="1600"/>
              </a:spcAft>
              <a:buNone/>
            </a:pPr>
            <a:r>
              <a:rPr lang="en-US" sz="1600" b="1" dirty="0">
                <a:solidFill>
                  <a:schemeClr val="accent1"/>
                </a:solidFill>
              </a:rPr>
              <a:t>Auditability: </a:t>
            </a:r>
            <a:pPr indent="0" marL="0">
              <a:spcAft>
                <a:spcPts val="1600"/>
              </a:spcAft>
              <a:buNone/>
            </a:pPr>
            <a:r>
              <a:rPr lang="en-US" sz="1600" dirty="0">
                <a:solidFill>
                  <a:schemeClr val="tx1"/>
                </a:solidFill>
              </a:rPr>
              <a:t>Readable, Git-versioned</a:t>
            </a:r>
            <a:endParaRPr lang="en-US" sz="1600" dirty="0"/>
          </a:p>
          <a:p>
            <a:pPr indent="0" marL="0">
              <a:spcAft>
                <a:spcPts val="1600"/>
              </a:spcAft>
              <a:buNone/>
            </a:pPr>
            <a:r>
              <a:rPr lang="en-US" sz="1600" b="1" dirty="0">
                <a:solidFill>
                  <a:schemeClr val="accent1"/>
                </a:solidFill>
              </a:rPr>
              <a:t>Accuracy: </a:t>
            </a:r>
            <a:pPr indent="0" marL="0">
              <a:spcAft>
                <a:spcPts val="1600"/>
              </a:spcAft>
              <a:buNone/>
            </a:pPr>
            <a:r>
              <a:rPr lang="en-US" sz="1600" dirty="0">
                <a:solidFill>
                  <a:schemeClr val="tx1"/>
                </a:solidFill>
              </a:rPr>
              <a:t>Conflicts resolved once</a:t>
            </a:r>
            <a:endParaRPr lang="en-US" sz="1600" dirty="0"/>
          </a:p>
          <a:p>
            <a:pPr indent="0" marL="0">
              <a:spcAft>
                <a:spcPts val="1600"/>
              </a:spcAft>
              <a:buNone/>
            </a:pPr>
            <a:r>
              <a:rPr lang="en-US" sz="1600" b="1" dirty="0">
                <a:solidFill>
                  <a:schemeClr val="accent1"/>
                </a:solidFill>
              </a:rPr>
              <a:t>Portability: </a:t>
            </a:r>
            <a:pPr indent="0" marL="0">
              <a:spcAft>
                <a:spcPts val="1600"/>
              </a:spcAft>
              <a:buNone/>
            </a:pPr>
            <a:r>
              <a:rPr lang="en-US" sz="1600" dirty="0">
                <a:solidFill>
                  <a:schemeClr val="tx1"/>
                </a:solidFill>
              </a:rPr>
              <a:t>Vendor-neutral, no lock-in</a:t>
            </a:r>
            <a:endParaRPr lang="en-US" sz="1600" dirty="0"/>
          </a:p>
        </p:txBody>
      </p:sp>
      <p:sp>
        <p:nvSpPr>
          <p:cNvPr id="7" name="Col Cons"/>
          <p:cNvSpPr/>
          <p:nvPr/>
        </p:nvSpPr>
        <p:spPr>
          <a:xfrm>
            <a:off x="4334256" y="1554480"/>
            <a:ext cx="3520440" cy="4572000"/>
          </a:xfrm>
          <a:prstGeom prst="roundRect">
            <a:avLst>
              <a:gd name="adj" fmla="val 3117"/>
            </a:avLst>
          </a:prstGeom>
          <a:solidFill>
            <a:schemeClr val="bg2"/>
          </a:solidFill>
          <a:ln w="12700">
            <a:solidFill>
              <a:schemeClr val="bg2"/>
            </a:solidFill>
            <a:prstDash val="solid"/>
          </a:ln>
        </p:spPr>
      </p:sp>
      <p:sp>
        <p:nvSpPr>
          <p:cNvPr id="8" name="Head Cons"/>
          <p:cNvSpPr/>
          <p:nvPr/>
        </p:nvSpPr>
        <p:spPr>
          <a:xfrm>
            <a:off x="4608576" y="1828800"/>
            <a:ext cx="1463040" cy="457200"/>
          </a:xfrm>
          <a:prstGeom prst="roundRect">
            <a:avLst>
              <a:gd name="adj" fmla="val 24000"/>
            </a:avLst>
          </a:prstGeom>
          <a:solidFill>
            <a:schemeClr val="accent3"/>
          </a:solidFill>
          <a:ln w="12700">
            <a:solidFill>
              <a:schemeClr val="accent3"/>
            </a:solidFill>
            <a:prstDash val="solid"/>
          </a:ln>
        </p:spPr>
      </p:sp>
      <p:sp>
        <p:nvSpPr>
          <p:cNvPr id="9" name="Text 7"/>
          <p:cNvSpPr txBox="1"/>
          <p:nvPr/>
        </p:nvSpPr>
        <p:spPr>
          <a:xfrm>
            <a:off x="4608576" y="1828800"/>
            <a:ext cx="1463040" cy="457200"/>
          </a:xfrm>
          <a:prstGeom prst="rect">
            <a:avLst/>
          </a:prstGeom>
          <a:noFill/>
          <a:ln/>
        </p:spPr>
        <p:txBody>
          <a:bodyPr wrap="square" lIns="0" tIns="0" rIns="0" bIns="0" rtlCol="0" anchor="ctr"/>
          <a:lstStyle/>
          <a:p>
            <a:pPr algn="ctr" indent="0" marL="0">
              <a:buNone/>
            </a:pPr>
            <a:r>
              <a:rPr lang="en-US" sz="1800" b="1" dirty="0">
                <a:solidFill>
                  <a:schemeClr val="bg1"/>
                </a:solidFill>
              </a:rPr>
              <a:t>Cons</a:t>
            </a:r>
            <a:endParaRPr lang="en-US" sz="1800" dirty="0"/>
          </a:p>
        </p:txBody>
      </p:sp>
      <p:sp>
        <p:nvSpPr>
          <p:cNvPr id="10" name="Text 8"/>
          <p:cNvSpPr txBox="1"/>
          <p:nvPr/>
        </p:nvSpPr>
        <p:spPr>
          <a:xfrm>
            <a:off x="4608576" y="2651760"/>
            <a:ext cx="3017520" cy="3291840"/>
          </a:xfrm>
          <a:prstGeom prst="rect">
            <a:avLst/>
          </a:prstGeom>
          <a:noFill/>
          <a:ln/>
        </p:spPr>
        <p:txBody>
          <a:bodyPr wrap="square" lIns="0" tIns="0" rIns="0" bIns="0" rtlCol="0" anchor="t"/>
          <a:lstStyle/>
          <a:p>
            <a:pPr indent="0" marL="0">
              <a:spcAft>
                <a:spcPts val="1600"/>
              </a:spcAft>
              <a:buNone/>
            </a:pPr>
            <a:r>
              <a:rPr lang="en-US" sz="1600" b="1" dirty="0">
                <a:solidFill>
                  <a:schemeClr val="accent3"/>
                </a:solidFill>
              </a:rPr>
              <a:t>Maturity: </a:t>
            </a:r>
            <a:pPr indent="0" marL="0">
              <a:spcAft>
                <a:spcPts val="1600"/>
              </a:spcAft>
              <a:buNone/>
            </a:pPr>
            <a:r>
              <a:rPr lang="en-US" sz="1600" dirty="0">
                <a:solidFill>
                  <a:schemeClr val="tx1"/>
                </a:solidFill>
              </a:rPr>
              <a:t>v0.1 spec still evolving</a:t>
            </a:r>
            <a:endParaRPr lang="en-US" sz="1600" dirty="0"/>
          </a:p>
          <a:p>
            <a:pPr indent="0" marL="0">
              <a:spcAft>
                <a:spcPts val="1600"/>
              </a:spcAft>
              <a:buNone/>
            </a:pPr>
            <a:r>
              <a:rPr lang="en-US" sz="1600" b="1" dirty="0">
                <a:solidFill>
                  <a:schemeClr val="accent3"/>
                </a:solidFill>
              </a:rPr>
              <a:t>Staleness: </a:t>
            </a:r>
            <a:pPr indent="0" marL="0">
              <a:spcAft>
                <a:spcPts val="1600"/>
              </a:spcAft>
              <a:buNone/>
            </a:pPr>
            <a:r>
              <a:rPr lang="en-US" sz="1600" dirty="0">
                <a:solidFill>
                  <a:schemeClr val="tx1"/>
                </a:solidFill>
              </a:rPr>
              <a:t>Pages drift without updates</a:t>
            </a:r>
            <a:endParaRPr lang="en-US" sz="1600" dirty="0"/>
          </a:p>
          <a:p>
            <a:pPr indent="0" marL="0">
              <a:spcAft>
                <a:spcPts val="1600"/>
              </a:spcAft>
              <a:buNone/>
            </a:pPr>
            <a:r>
              <a:rPr lang="en-US" sz="1600" b="1" dirty="0">
                <a:solidFill>
                  <a:schemeClr val="accent3"/>
                </a:solidFill>
              </a:rPr>
              <a:t>Error risk: </a:t>
            </a:r>
            <a:pPr indent="0" marL="0">
              <a:spcAft>
                <a:spcPts val="1600"/>
              </a:spcAft>
              <a:buNone/>
            </a:pPr>
            <a:r>
              <a:rPr lang="en-US" sz="1600" dirty="0">
                <a:solidFill>
                  <a:schemeClr val="tx1"/>
                </a:solidFill>
              </a:rPr>
              <a:t>Curation mistakes persist</a:t>
            </a:r>
            <a:endParaRPr lang="en-US" sz="1600" dirty="0"/>
          </a:p>
        </p:txBody>
      </p:sp>
      <p:sp>
        <p:nvSpPr>
          <p:cNvPr id="11" name="Col Limits"/>
          <p:cNvSpPr/>
          <p:nvPr/>
        </p:nvSpPr>
        <p:spPr>
          <a:xfrm>
            <a:off x="8119872" y="1554480"/>
            <a:ext cx="3520440" cy="4572000"/>
          </a:xfrm>
          <a:prstGeom prst="roundRect">
            <a:avLst>
              <a:gd name="adj" fmla="val 3117"/>
            </a:avLst>
          </a:prstGeom>
          <a:solidFill>
            <a:schemeClr val="bg2"/>
          </a:solidFill>
          <a:ln w="12700">
            <a:solidFill>
              <a:schemeClr val="bg2"/>
            </a:solidFill>
            <a:prstDash val="solid"/>
          </a:ln>
        </p:spPr>
      </p:sp>
      <p:sp>
        <p:nvSpPr>
          <p:cNvPr id="12" name="Head Limits"/>
          <p:cNvSpPr/>
          <p:nvPr/>
        </p:nvSpPr>
        <p:spPr>
          <a:xfrm>
            <a:off x="8394192" y="1828800"/>
            <a:ext cx="1463040" cy="457200"/>
          </a:xfrm>
          <a:prstGeom prst="roundRect">
            <a:avLst>
              <a:gd name="adj" fmla="val 24000"/>
            </a:avLst>
          </a:prstGeom>
          <a:solidFill>
            <a:schemeClr val="accent4"/>
          </a:solidFill>
          <a:ln w="12700">
            <a:solidFill>
              <a:schemeClr val="accent4"/>
            </a:solidFill>
            <a:prstDash val="solid"/>
          </a:ln>
        </p:spPr>
      </p:sp>
      <p:sp>
        <p:nvSpPr>
          <p:cNvPr id="13" name="Text 11"/>
          <p:cNvSpPr txBox="1"/>
          <p:nvPr/>
        </p:nvSpPr>
        <p:spPr>
          <a:xfrm>
            <a:off x="8394192" y="1828800"/>
            <a:ext cx="1463040" cy="457200"/>
          </a:xfrm>
          <a:prstGeom prst="rect">
            <a:avLst/>
          </a:prstGeom>
          <a:noFill/>
          <a:ln/>
        </p:spPr>
        <p:txBody>
          <a:bodyPr wrap="square" lIns="0" tIns="0" rIns="0" bIns="0" rtlCol="0" anchor="ctr"/>
          <a:lstStyle/>
          <a:p>
            <a:pPr algn="ctr" indent="0" marL="0">
              <a:buNone/>
            </a:pPr>
            <a:r>
              <a:rPr lang="en-US" sz="1800" b="1" dirty="0">
                <a:solidFill>
                  <a:schemeClr val="bg1"/>
                </a:solidFill>
              </a:rPr>
              <a:t>Limits</a:t>
            </a:r>
            <a:endParaRPr lang="en-US" sz="1800" dirty="0"/>
          </a:p>
        </p:txBody>
      </p:sp>
      <p:sp>
        <p:nvSpPr>
          <p:cNvPr id="14" name="Text 12"/>
          <p:cNvSpPr txBox="1"/>
          <p:nvPr/>
        </p:nvSpPr>
        <p:spPr>
          <a:xfrm>
            <a:off x="8394192" y="2651760"/>
            <a:ext cx="3017520" cy="3291840"/>
          </a:xfrm>
          <a:prstGeom prst="rect">
            <a:avLst/>
          </a:prstGeom>
          <a:noFill/>
          <a:ln/>
        </p:spPr>
        <p:txBody>
          <a:bodyPr wrap="square" lIns="0" tIns="0" rIns="0" bIns="0" rtlCol="0" anchor="t"/>
          <a:lstStyle/>
          <a:p>
            <a:pPr indent="0" marL="0">
              <a:spcAft>
                <a:spcPts val="1600"/>
              </a:spcAft>
              <a:buNone/>
            </a:pPr>
            <a:r>
              <a:rPr lang="en-US" sz="1600" b="1" dirty="0">
                <a:solidFill>
                  <a:schemeClr val="accent4"/>
                </a:solidFill>
              </a:rPr>
              <a:t>Scale: </a:t>
            </a:r>
            <a:pPr indent="0" marL="0">
              <a:spcAft>
                <a:spcPts val="1600"/>
              </a:spcAft>
              <a:buNone/>
            </a:pPr>
            <a:r>
              <a:rPr lang="en-US" sz="1600" dirty="0">
                <a:solidFill>
                  <a:schemeClr val="tx1"/>
                </a:solidFill>
              </a:rPr>
              <a:t>Weak fit for millions of messy docs</a:t>
            </a:r>
            <a:endParaRPr lang="en-US" sz="1600" dirty="0"/>
          </a:p>
          <a:p>
            <a:pPr indent="0" marL="0">
              <a:spcAft>
                <a:spcPts val="1600"/>
              </a:spcAft>
              <a:buNone/>
            </a:pPr>
            <a:r>
              <a:rPr lang="en-US" sz="1600" b="1" dirty="0">
                <a:solidFill>
                  <a:schemeClr val="accent4"/>
                </a:solidFill>
              </a:rPr>
              <a:t>Governance: </a:t>
            </a:r>
            <a:pPr indent="0" marL="0">
              <a:spcAft>
                <a:spcPts val="1600"/>
              </a:spcAft>
              <a:buNone/>
            </a:pPr>
            <a:r>
              <a:rPr lang="en-US" sz="1600" dirty="0">
                <a:solidFill>
                  <a:schemeClr val="tx1"/>
                </a:solidFill>
              </a:rPr>
              <a:t>Needs owners, review gates, lint</a:t>
            </a:r>
            <a:endParaRPr lang="en-US" sz="1600" dirty="0"/>
          </a:p>
          <a:p>
            <a:pPr indent="0" marL="0">
              <a:spcAft>
                <a:spcPts val="1600"/>
              </a:spcAft>
              <a:buNone/>
            </a:pPr>
            <a:r>
              <a:rPr lang="en-US" sz="1600" b="1" dirty="0">
                <a:solidFill>
                  <a:schemeClr val="accent4"/>
                </a:solidFill>
              </a:rPr>
              <a:t>Process: </a:t>
            </a:r>
            <a:pPr indent="0" marL="0">
              <a:spcAft>
                <a:spcPts val="1600"/>
              </a:spcAft>
              <a:buNone/>
            </a:pPr>
            <a:r>
              <a:rPr lang="en-US" sz="1600" dirty="0">
                <a:solidFill>
                  <a:schemeClr val="tx1"/>
                </a:solidFill>
              </a:rPr>
              <a:t>Standardizes files, not workflow</a:t>
            </a:r>
            <a:endParaRPr lang="en-US" sz="16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05840"/>
          </a:xfrm>
          <a:prstGeom prst="rect">
            <a:avLst/>
          </a:prstGeom>
          <a:noFill/>
          <a:ln/>
        </p:spPr>
        <p:txBody>
          <a:bodyPr wrap="square" lIns="0" tIns="0" rIns="0" bIns="0" rtlCol="0" anchor="ctr"/>
          <a:lstStyle/>
          <a:p>
            <a:pPr algn="l" indent="0" marL="0">
              <a:buNone/>
            </a:pPr>
            <a:r>
              <a:rPr lang="en-US" sz="3400" b="1" dirty="0">
                <a:solidFill>
                  <a:schemeClr val="tx2"/>
                </a:solidFill>
              </a:rPr>
              <a:t>Verdict: Hybrid Wins</a:t>
            </a:r>
            <a:endParaRPr lang="en-US" sz="3400" dirty="0"/>
          </a:p>
        </p:txBody>
      </p:sp>
      <p:sp>
        <p:nvSpPr>
          <p:cNvPr id="3" name="Router"/>
          <p:cNvSpPr/>
          <p:nvPr/>
        </p:nvSpPr>
        <p:spPr>
          <a:xfrm>
            <a:off x="2194560" y="1554480"/>
            <a:ext cx="7799832" cy="777240"/>
          </a:xfrm>
          <a:prstGeom prst="roundRect">
            <a:avLst>
              <a:gd name="adj" fmla="val 14118"/>
            </a:avLst>
          </a:prstGeom>
          <a:solidFill>
            <a:schemeClr val="tx2"/>
          </a:solidFill>
          <a:ln w="12700">
            <a:solidFill>
              <a:schemeClr val="tx2"/>
            </a:solidFill>
            <a:prstDash val="solid"/>
          </a:ln>
        </p:spPr>
      </p:sp>
      <p:sp>
        <p:nvSpPr>
          <p:cNvPr id="4" name="Text 2"/>
          <p:cNvSpPr txBox="1"/>
          <p:nvPr/>
        </p:nvSpPr>
        <p:spPr>
          <a:xfrm>
            <a:off x="2377440" y="1554480"/>
            <a:ext cx="7434072" cy="777240"/>
          </a:xfrm>
          <a:prstGeom prst="rect">
            <a:avLst/>
          </a:prstGeom>
          <a:noFill/>
          <a:ln/>
        </p:spPr>
        <p:txBody>
          <a:bodyPr wrap="square" lIns="0" tIns="0" rIns="0" bIns="0" rtlCol="0" anchor="ctr"/>
          <a:lstStyle/>
          <a:p>
            <a:pPr algn="ctr" indent="0" marL="0">
              <a:buNone/>
            </a:pPr>
            <a:r>
              <a:rPr lang="en-US" sz="1800" b="1" dirty="0">
                <a:solidFill>
                  <a:schemeClr val="bg1"/>
                </a:solidFill>
              </a:rPr>
              <a:t>Query router: policy questions to OKF first, fall back to RAG</a:t>
            </a:r>
            <a:endParaRPr lang="en-US" sz="1800" dirty="0"/>
          </a:p>
        </p:txBody>
      </p:sp>
      <p:sp>
        <p:nvSpPr>
          <p:cNvPr id="5" name="Shape 3"/>
          <p:cNvSpPr/>
          <p:nvPr/>
        </p:nvSpPr>
        <p:spPr>
          <a:xfrm>
            <a:off x="4206240" y="2377440"/>
            <a:ext cx="0" cy="411480"/>
          </a:xfrm>
          <a:prstGeom prst="line">
            <a:avLst/>
          </a:prstGeom>
          <a:noFill/>
          <a:ln w="25400">
            <a:solidFill>
              <a:schemeClr val="accent1"/>
            </a:solidFill>
            <a:prstDash val="solid"/>
            <a:tailEnd type="triangle"/>
          </a:ln>
        </p:spPr>
      </p:sp>
      <p:sp>
        <p:nvSpPr>
          <p:cNvPr id="6" name="Shape 4"/>
          <p:cNvSpPr/>
          <p:nvPr/>
        </p:nvSpPr>
        <p:spPr>
          <a:xfrm>
            <a:off x="7982712" y="2377440"/>
            <a:ext cx="0" cy="411480"/>
          </a:xfrm>
          <a:prstGeom prst="line">
            <a:avLst/>
          </a:prstGeom>
          <a:noFill/>
          <a:ln w="25400">
            <a:solidFill>
              <a:schemeClr val="accent4"/>
            </a:solidFill>
            <a:prstDash val="solid"/>
            <a:tailEnd type="triangle"/>
          </a:ln>
        </p:spPr>
      </p:sp>
      <p:sp>
        <p:nvSpPr>
          <p:cNvPr id="7" name="OKF core"/>
          <p:cNvSpPr/>
          <p:nvPr/>
        </p:nvSpPr>
        <p:spPr>
          <a:xfrm>
            <a:off x="548640" y="2834640"/>
            <a:ext cx="5394960" cy="2468880"/>
          </a:xfrm>
          <a:prstGeom prst="roundRect">
            <a:avLst>
              <a:gd name="adj" fmla="val 4444"/>
            </a:avLst>
          </a:prstGeom>
          <a:solidFill>
            <a:schemeClr val="accent1"/>
          </a:solidFill>
          <a:ln w="12700">
            <a:solidFill>
              <a:schemeClr val="accent1"/>
            </a:solidFill>
            <a:prstDash val="solid"/>
          </a:ln>
        </p:spPr>
      </p:sp>
      <p:sp>
        <p:nvSpPr>
          <p:cNvPr id="8" name="Text 6"/>
          <p:cNvSpPr txBox="1"/>
          <p:nvPr/>
        </p:nvSpPr>
        <p:spPr>
          <a:xfrm>
            <a:off x="868680" y="3017520"/>
            <a:ext cx="4754880" cy="45720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OKF core</a:t>
            </a:r>
            <a:endParaRPr lang="en-US" sz="2400" dirty="0"/>
          </a:p>
        </p:txBody>
      </p:sp>
      <p:sp>
        <p:nvSpPr>
          <p:cNvPr id="9" name="Text 7"/>
          <p:cNvSpPr txBox="1"/>
          <p:nvPr/>
        </p:nvSpPr>
        <p:spPr>
          <a:xfrm>
            <a:off x="868680" y="3611880"/>
            <a:ext cx="4754880" cy="1554480"/>
          </a:xfrm>
          <a:prstGeom prst="rect">
            <a:avLst/>
          </a:prstGeom>
          <a:noFill/>
          <a:ln/>
        </p:spPr>
        <p:txBody>
          <a:bodyPr wrap="square" lIns="0" tIns="0" rIns="0" bIns="0" rtlCol="0" anchor="t"/>
          <a:lstStyle/>
          <a:p>
            <a:pPr indent="0" marL="0">
              <a:spcAft>
                <a:spcPts val="400"/>
              </a:spcAft>
              <a:buNone/>
            </a:pPr>
            <a:r>
              <a:rPr lang="en-US" sz="1800" dirty="0">
                <a:solidFill>
                  <a:schemeClr val="bg1"/>
                </a:solidFill>
              </a:rPr>
              <a:t>Credit policy</a:t>
            </a:r>
            <a:endParaRPr lang="en-US" sz="1800" dirty="0"/>
          </a:p>
          <a:p>
            <a:pPr indent="0" marL="0">
              <a:spcAft>
                <a:spcPts val="400"/>
              </a:spcAft>
              <a:buNone/>
            </a:pPr>
            <a:r>
              <a:rPr lang="en-US" sz="1800" dirty="0">
                <a:solidFill>
                  <a:schemeClr val="bg1"/>
                </a:solidFill>
              </a:rPr>
              <a:t>Eligibility rules</a:t>
            </a:r>
            <a:endParaRPr lang="en-US" sz="1800" dirty="0"/>
          </a:p>
          <a:p>
            <a:pPr indent="0" marL="0">
              <a:spcAft>
                <a:spcPts val="400"/>
              </a:spcAft>
              <a:buNone/>
            </a:pPr>
            <a:r>
              <a:rPr lang="en-US" sz="1800" dirty="0">
                <a:solidFill>
                  <a:schemeClr val="bg1"/>
                </a:solidFill>
              </a:rPr>
              <a:t>Pricing</a:t>
            </a:r>
            <a:endParaRPr lang="en-US" sz="1800" dirty="0"/>
          </a:p>
          <a:p>
            <a:pPr indent="0" marL="0">
              <a:spcAft>
                <a:spcPts val="400"/>
              </a:spcAft>
              <a:buNone/>
            </a:pPr>
            <a:r>
              <a:rPr lang="en-US" sz="1800" dirty="0">
                <a:solidFill>
                  <a:schemeClr val="bg1"/>
                </a:solidFill>
              </a:rPr>
              <a:t>Compliance</a:t>
            </a:r>
            <a:endParaRPr lang="en-US" sz="1800" dirty="0"/>
          </a:p>
        </p:txBody>
      </p:sp>
      <p:sp>
        <p:nvSpPr>
          <p:cNvPr id="10" name="RAG long-tail"/>
          <p:cNvSpPr/>
          <p:nvPr/>
        </p:nvSpPr>
        <p:spPr>
          <a:xfrm>
            <a:off x="6245352" y="2834640"/>
            <a:ext cx="5394960" cy="2468880"/>
          </a:xfrm>
          <a:prstGeom prst="roundRect">
            <a:avLst>
              <a:gd name="adj" fmla="val 4444"/>
            </a:avLst>
          </a:prstGeom>
          <a:solidFill>
            <a:schemeClr val="accent4"/>
          </a:solidFill>
          <a:ln w="12700">
            <a:solidFill>
              <a:schemeClr val="accent4"/>
            </a:solidFill>
            <a:prstDash val="solid"/>
          </a:ln>
        </p:spPr>
      </p:sp>
      <p:sp>
        <p:nvSpPr>
          <p:cNvPr id="11" name="Text 9"/>
          <p:cNvSpPr txBox="1"/>
          <p:nvPr/>
        </p:nvSpPr>
        <p:spPr>
          <a:xfrm>
            <a:off x="6565392" y="3017520"/>
            <a:ext cx="4754880" cy="45720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RAG long-tail</a:t>
            </a:r>
            <a:endParaRPr lang="en-US" sz="2400" dirty="0"/>
          </a:p>
        </p:txBody>
      </p:sp>
      <p:sp>
        <p:nvSpPr>
          <p:cNvPr id="12" name="Text 10"/>
          <p:cNvSpPr txBox="1"/>
          <p:nvPr/>
        </p:nvSpPr>
        <p:spPr>
          <a:xfrm>
            <a:off x="6565392" y="3611880"/>
            <a:ext cx="4754880" cy="1554480"/>
          </a:xfrm>
          <a:prstGeom prst="rect">
            <a:avLst/>
          </a:prstGeom>
          <a:noFill/>
          <a:ln/>
        </p:spPr>
        <p:txBody>
          <a:bodyPr wrap="square" lIns="0" tIns="0" rIns="0" bIns="0" rtlCol="0" anchor="t"/>
          <a:lstStyle/>
          <a:p>
            <a:pPr indent="0" marL="0">
              <a:spcAft>
                <a:spcPts val="400"/>
              </a:spcAft>
              <a:buNone/>
            </a:pPr>
            <a:r>
              <a:rPr lang="en-US" sz="1800" dirty="0">
                <a:solidFill>
                  <a:schemeClr val="bg1"/>
                </a:solidFill>
              </a:rPr>
              <a:t>Emails</a:t>
            </a:r>
            <a:endParaRPr lang="en-US" sz="1800" dirty="0"/>
          </a:p>
          <a:p>
            <a:pPr indent="0" marL="0">
              <a:spcAft>
                <a:spcPts val="400"/>
              </a:spcAft>
              <a:buNone/>
            </a:pPr>
            <a:r>
              <a:rPr lang="en-US" sz="1800" dirty="0">
                <a:solidFill>
                  <a:schemeClr val="bg1"/>
                </a:solidFill>
              </a:rPr>
              <a:t>Legacy circulars</a:t>
            </a:r>
            <a:endParaRPr lang="en-US" sz="1800" dirty="0"/>
          </a:p>
          <a:p>
            <a:pPr indent="0" marL="0">
              <a:spcAft>
                <a:spcPts val="400"/>
              </a:spcAft>
              <a:buNone/>
            </a:pPr>
            <a:r>
              <a:rPr lang="en-US" sz="1800" dirty="0">
                <a:solidFill>
                  <a:schemeClr val="bg1"/>
                </a:solidFill>
              </a:rPr>
              <a:t>Case files</a:t>
            </a:r>
            <a:endParaRPr lang="en-US" sz="1800" dirty="0"/>
          </a:p>
          <a:p>
            <a:pPr indent="0" marL="0">
              <a:spcAft>
                <a:spcPts val="400"/>
              </a:spcAft>
              <a:buNone/>
            </a:pPr>
            <a:r>
              <a:rPr lang="en-US" sz="1800" dirty="0">
                <a:solidFill>
                  <a:schemeClr val="bg1"/>
                </a:solidFill>
              </a:rPr>
              <a:t>Archives</a:t>
            </a:r>
            <a:endParaRPr lang="en-US" sz="1800" dirty="0"/>
          </a:p>
        </p:txBody>
      </p:sp>
      <p:sp>
        <p:nvSpPr>
          <p:cNvPr id="13" name="Guardrail"/>
          <p:cNvSpPr/>
          <p:nvPr/>
        </p:nvSpPr>
        <p:spPr>
          <a:xfrm>
            <a:off x="548640" y="5532120"/>
            <a:ext cx="11091672" cy="594360"/>
          </a:xfrm>
          <a:prstGeom prst="roundRect">
            <a:avLst>
              <a:gd name="adj" fmla="val 18462"/>
            </a:avLst>
          </a:prstGeom>
          <a:solidFill>
            <a:schemeClr val="accent2"/>
          </a:solidFill>
          <a:ln w="12700">
            <a:solidFill>
              <a:schemeClr val="accent2"/>
            </a:solidFill>
            <a:prstDash val="solid"/>
          </a:ln>
        </p:spPr>
      </p:sp>
      <p:sp>
        <p:nvSpPr>
          <p:cNvPr id="14" name="Text 12"/>
          <p:cNvSpPr txBox="1"/>
          <p:nvPr/>
        </p:nvSpPr>
        <p:spPr>
          <a:xfrm>
            <a:off x="731520" y="5532120"/>
            <a:ext cx="10698480" cy="594360"/>
          </a:xfrm>
          <a:prstGeom prst="rect">
            <a:avLst/>
          </a:prstGeom>
          <a:noFill/>
          <a:ln/>
        </p:spPr>
        <p:txBody>
          <a:bodyPr wrap="square" lIns="0" tIns="0" rIns="0" bIns="0" rtlCol="0" anchor="ctr"/>
          <a:lstStyle/>
          <a:p>
            <a:pPr indent="0" marL="0">
              <a:buNone/>
            </a:pPr>
            <a:r>
              <a:rPr lang="en-US" sz="1800" b="1" dirty="0">
                <a:solidFill>
                  <a:schemeClr val="tx2"/>
                </a:solidFill>
              </a:rPr>
              <a:t>Guardrail: cite the page or chunk behind every answer</a:t>
            </a:r>
            <a:endParaRPr lang="en-US" sz="18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594360"/>
          </a:xfrm>
          <a:prstGeom prst="rect">
            <a:avLst/>
          </a:prstGeom>
          <a:noFill/>
          <a:ln/>
        </p:spPr>
        <p:txBody>
          <a:bodyPr wrap="square" lIns="0" tIns="0" rIns="0" bIns="0" rtlCol="0" anchor="ctr"/>
          <a:lstStyle/>
          <a:p>
            <a:pPr algn="l" indent="0" marL="0">
              <a:buNone/>
            </a:pPr>
            <a:r>
              <a:rPr lang="en-US" sz="2800" b="1" dirty="0">
                <a:solidFill>
                  <a:schemeClr val="tx2"/>
                </a:solidFill>
              </a:rPr>
              <a:t>Practical Case 2: Credit Card Forex Markup &amp; Dynamic Circulars</a:t>
            </a:r>
            <a:endParaRPr lang="en-US" sz="2800" dirty="0"/>
          </a:p>
        </p:txBody>
      </p:sp>
      <p:sp>
        <p:nvSpPr>
          <p:cNvPr id="3" name="Scenario"/>
          <p:cNvSpPr txBox="1"/>
          <p:nvPr/>
        </p:nvSpPr>
        <p:spPr>
          <a:xfrm>
            <a:off x="548640" y="960120"/>
            <a:ext cx="11091672" cy="502920"/>
          </a:xfrm>
          <a:prstGeom prst="rect">
            <a:avLst/>
          </a:prstGeom>
          <a:noFill/>
          <a:ln/>
        </p:spPr>
        <p:txBody>
          <a:bodyPr wrap="square" lIns="0" tIns="0" rIns="0" bIns="0" rtlCol="0" anchor="ctr"/>
          <a:lstStyle/>
          <a:p>
            <a:pPr indent="0" marL="0">
              <a:buNone/>
            </a:pPr>
            <a:r>
              <a:rPr lang="en-US" sz="1400" b="1" dirty="0">
                <a:solidFill>
                  <a:schemeClr val="accent3"/>
                </a:solidFill>
              </a:rPr>
              <a:t>The scenario: </a:t>
            </a:r>
            <a:r>
              <a:rPr lang="en-US" sz="1400" dirty="0">
                <a:solidFill>
                  <a:schemeClr val="tx1"/>
                </a:solidFill>
              </a:rPr>
              <a:t>Customer asks: "If I use my premium credit card in Singapore, what is the foreign currency markup fee, and does the festive waiver apply?"</a:t>
            </a:r>
            <a:endParaRPr lang="en-US" sz="1400" dirty="0"/>
          </a:p>
        </p:txBody>
      </p:sp>
      <p:sp>
        <p:nvSpPr>
          <p:cNvPr id="4" name="Trap box 1"/>
          <p:cNvSpPr/>
          <p:nvPr/>
        </p:nvSpPr>
        <p:spPr>
          <a:xfrm>
            <a:off x="548640" y="1554480"/>
            <a:ext cx="5454396" cy="868680"/>
          </a:xfrm>
          <a:prstGeom prst="roundRect">
            <a:avLst>
              <a:gd name="adj" fmla="val 8000"/>
            </a:avLst>
          </a:prstGeom>
          <a:solidFill>
            <a:schemeClr val="accent3"/>
          </a:solidFill>
          <a:ln w="12700">
            <a:solidFill>
              <a:schemeClr val="accent3"/>
            </a:solidFill>
            <a:prstDash val="solid"/>
          </a:ln>
        </p:spPr>
      </p:sp>
      <p:sp>
        <p:nvSpPr>
          <p:cNvPr id="5" name="Trap text 1"/>
          <p:cNvSpPr txBox="1"/>
          <p:nvPr/>
        </p:nvSpPr>
        <p:spPr>
          <a:xfrm>
            <a:off x="731520" y="1554480"/>
            <a:ext cx="5088636" cy="868680"/>
          </a:xfrm>
          <a:prstGeom prst="rect">
            <a:avLst/>
          </a:prstGeom>
          <a:noFill/>
          <a:ln/>
        </p:spPr>
        <p:txBody>
          <a:bodyPr wrap="square" lIns="0" tIns="0" rIns="0" bIns="0" rtlCol="0" anchor="ctr"/>
          <a:lstStyle/>
          <a:p>
            <a:pPr indent="0" marL="0">
              <a:spcAft>
                <a:spcPts val="300"/>
              </a:spcAft>
              <a:buNone/>
            </a:pPr>
            <a:r>
              <a:rPr lang="en-US" sz="1400" b="1" dirty="0">
                <a:solidFill>
                  <a:schemeClr val="bg1"/>
                </a:solidFill>
              </a:rPr>
              <a:t>Master Card Agreement v4</a:t>
            </a:r>
            <a:endParaRPr lang="en-US" sz="1400" dirty="0"/>
          </a:p>
          <a:p>
            <a:pPr indent="0" marL="0">
              <a:buNone/>
            </a:pPr>
            <a:r>
              <a:rPr lang="en-US" sz="1400" dirty="0">
                <a:solidFill>
                  <a:schemeClr val="bg1"/>
                </a:solidFill>
              </a:rPr>
              <a:t>Standard forex fee: 3.5%</a:t>
            </a:r>
            <a:endParaRPr lang="en-US" sz="1400" dirty="0"/>
          </a:p>
        </p:txBody>
      </p:sp>
      <p:sp>
        <p:nvSpPr>
          <p:cNvPr id="6" name="Trap box 2"/>
          <p:cNvSpPr/>
          <p:nvPr/>
        </p:nvSpPr>
        <p:spPr>
          <a:xfrm>
            <a:off x="6185916" y="1554480"/>
            <a:ext cx="5454396" cy="868680"/>
          </a:xfrm>
          <a:prstGeom prst="roundRect">
            <a:avLst>
              <a:gd name="adj" fmla="val 8000"/>
            </a:avLst>
          </a:prstGeom>
          <a:solidFill>
            <a:schemeClr val="accent3"/>
          </a:solidFill>
          <a:ln w="12700">
            <a:solidFill>
              <a:schemeClr val="accent3"/>
            </a:solidFill>
            <a:prstDash val="solid"/>
          </a:ln>
        </p:spPr>
      </p:sp>
      <p:sp>
        <p:nvSpPr>
          <p:cNvPr id="7" name="Trap text 2"/>
          <p:cNvSpPr txBox="1"/>
          <p:nvPr/>
        </p:nvSpPr>
        <p:spPr>
          <a:xfrm>
            <a:off x="6368796" y="1554480"/>
            <a:ext cx="5088636" cy="868680"/>
          </a:xfrm>
          <a:prstGeom prst="rect">
            <a:avLst/>
          </a:prstGeom>
          <a:noFill/>
          <a:ln/>
        </p:spPr>
        <p:txBody>
          <a:bodyPr wrap="square" lIns="0" tIns="0" rIns="0" bIns="0" rtlCol="0" anchor="ctr"/>
          <a:lstStyle/>
          <a:p>
            <a:pPr indent="0" marL="0">
              <a:spcAft>
                <a:spcPts val="300"/>
              </a:spcAft>
              <a:buNone/>
            </a:pPr>
            <a:r>
              <a:rPr lang="en-US" sz="1400" b="1" dirty="0">
                <a:solidFill>
                  <a:schemeClr val="bg1"/>
                </a:solidFill>
              </a:rPr>
              <a:t>Q4 Festive Circular</a:t>
            </a:r>
            <a:endParaRPr lang="en-US" sz="1400" dirty="0"/>
          </a:p>
          <a:p>
            <a:pPr indent="0" marL="0">
              <a:buNone/>
            </a:pPr>
            <a:r>
              <a:rPr lang="en-US" sz="1400" dirty="0">
                <a:solidFill>
                  <a:schemeClr val="bg1"/>
                </a:solidFill>
              </a:rPr>
              <a:t>Markup cut to 1.5% for select corporate and premium cards, for 60 days</a:t>
            </a:r>
            <a:endParaRPr lang="en-US" sz="1400" dirty="0"/>
          </a:p>
        </p:txBody>
      </p:sp>
      <p:sp>
        <p:nvSpPr>
          <p:cNvPr id="10" name="Outcome Vector RAG"/>
          <p:cNvSpPr/>
          <p:nvPr/>
        </p:nvSpPr>
        <p:spPr>
          <a:xfrm>
            <a:off x="548640" y="2560320"/>
            <a:ext cx="5394960" cy="2651760"/>
          </a:xfrm>
          <a:prstGeom prst="roundRect">
            <a:avLst>
              <a:gd name="adj" fmla="val 2927"/>
            </a:avLst>
          </a:prstGeom>
          <a:solidFill>
            <a:schemeClr val="bg2"/>
          </a:solidFill>
          <a:ln w="12700">
            <a:solidFill>
              <a:schemeClr val="bg2"/>
            </a:solidFill>
            <a:prstDash val="solid"/>
          </a:ln>
        </p:spPr>
      </p:sp>
      <p:sp>
        <p:nvSpPr>
          <p:cNvPr id="11" name="Tag Vector RAG"/>
          <p:cNvSpPr/>
          <p:nvPr/>
        </p:nvSpPr>
        <p:spPr>
          <a:xfrm>
            <a:off x="822960" y="2743200"/>
            <a:ext cx="2011680" cy="365760"/>
          </a:xfrm>
          <a:prstGeom prst="roundRect">
            <a:avLst>
              <a:gd name="adj" fmla="val 24000"/>
            </a:avLst>
          </a:prstGeom>
          <a:solidFill>
            <a:schemeClr val="accent3"/>
          </a:solidFill>
          <a:ln w="12700">
            <a:solidFill>
              <a:schemeClr val="accent3"/>
            </a:solidFill>
            <a:prstDash val="solid"/>
          </a:ln>
        </p:spPr>
      </p:sp>
      <p:sp>
        <p:nvSpPr>
          <p:cNvPr id="12" name="Tag text Vector RAG"/>
          <p:cNvSpPr txBox="1"/>
          <p:nvPr/>
        </p:nvSpPr>
        <p:spPr>
          <a:xfrm>
            <a:off x="822960" y="2743200"/>
            <a:ext cx="2011680" cy="365760"/>
          </a:xfrm>
          <a:prstGeom prst="rect">
            <a:avLst/>
          </a:prstGeom>
          <a:noFill/>
          <a:ln/>
        </p:spPr>
        <p:txBody>
          <a:bodyPr wrap="square" lIns="0" tIns="0" rIns="0" bIns="0" rtlCol="0" anchor="ctr"/>
          <a:lstStyle/>
          <a:p>
            <a:pPr algn="ctr" indent="0" marL="0">
              <a:buNone/>
            </a:pPr>
            <a:r>
              <a:rPr lang="en-US" sz="1600" b="1" dirty="0">
                <a:solidFill>
                  <a:schemeClr val="bg1"/>
                </a:solidFill>
              </a:rPr>
              <a:t>Vector RAG</a:t>
            </a:r>
            <a:endParaRPr lang="en-US" sz="1600" dirty="0"/>
          </a:p>
        </p:txBody>
      </p:sp>
      <p:sp>
        <p:nvSpPr>
          <p:cNvPr id="13" name="Body Vector RAG"/>
          <p:cNvSpPr txBox="1"/>
          <p:nvPr/>
        </p:nvSpPr>
        <p:spPr>
          <a:xfrm>
            <a:off x="914400" y="3291840"/>
            <a:ext cx="4663440" cy="1828800"/>
          </a:xfrm>
          <a:prstGeom prst="rect">
            <a:avLst/>
          </a:prstGeom>
          <a:noFill/>
          <a:ln/>
        </p:spPr>
        <p:txBody>
          <a:bodyPr wrap="square" lIns="0" tIns="0" rIns="0" bIns="0" rtlCol="0" anchor="t"/>
          <a:lstStyle/>
          <a:p>
            <a:pPr indent="0" marL="0">
              <a:spcAft>
                <a:spcPts val="1200"/>
              </a:spcAft>
              <a:buNone/>
            </a:pPr>
            <a:r>
              <a:rPr lang="en-US" sz="1600" b="1" dirty="0">
                <a:solidFill>
                  <a:schemeClr val="accent3"/>
                </a:solidFill>
              </a:rPr>
              <a:t>Retrieves: </a:t>
            </a:r>
            <a:r>
              <a:rPr lang="en-US" sz="1600" dirty="0">
                <a:solidFill>
                  <a:schemeClr val="tx1"/>
                </a:solidFill>
              </a:rPr>
              <a:t>Master agreement v4 ranked #1; the answer says 3.5% will be charged</a:t>
            </a:r>
            <a:endParaRPr lang="en-US" sz="1600" dirty="0"/>
          </a:p>
          <a:p>
            <a:pPr indent="0" marL="0">
              <a:spcAft>
                <a:spcPts val="1200"/>
              </a:spcAft>
              <a:buNone/>
            </a:pPr>
            <a:r>
              <a:rPr lang="en-US" sz="1600" b="1" dirty="0">
                <a:solidFill>
                  <a:schemeClr val="accent3"/>
                </a:solidFill>
              </a:rPr>
              <a:t>Failure: </a:t>
            </a:r>
            <a:r>
              <a:rPr lang="en-US" sz="1600" dirty="0">
                <a:solidFill>
                  <a:schemeClr val="tx1"/>
                </a:solidFill>
              </a:rPr>
              <a:t>Festive circular chunk missed: a silent retrieval failure</a:t>
            </a:r>
            <a:endParaRPr lang="en-US" sz="1600" dirty="0"/>
          </a:p>
          <a:p>
            <a:pPr indent="0" marL="0">
              <a:spcAft>
                <a:spcPts val="1200"/>
              </a:spcAft>
              <a:buNone/>
            </a:pPr>
            <a:r>
              <a:rPr lang="en-US" sz="1600" b="1" dirty="0">
                <a:solidFill>
                  <a:schemeClr val="accent3"/>
                </a:solidFill>
              </a:rPr>
              <a:t>Risk: </a:t>
            </a:r>
            <a:r>
              <a:rPr lang="en-US" sz="1600" dirty="0">
                <a:solidFill>
                  <a:schemeClr val="tx1"/>
                </a:solidFill>
              </a:rPr>
              <a:t>Financial loss for the customer</a:t>
            </a:r>
            <a:endParaRPr lang="en-US" sz="1600" dirty="0"/>
          </a:p>
        </p:txBody>
      </p:sp>
      <p:sp>
        <p:nvSpPr>
          <p:cNvPr id="14" name="Outcome OKF"/>
          <p:cNvSpPr/>
          <p:nvPr/>
        </p:nvSpPr>
        <p:spPr>
          <a:xfrm>
            <a:off x="6245352" y="2560320"/>
            <a:ext cx="5394960" cy="2651760"/>
          </a:xfrm>
          <a:prstGeom prst="roundRect">
            <a:avLst>
              <a:gd name="adj" fmla="val 2927"/>
            </a:avLst>
          </a:prstGeom>
          <a:solidFill>
            <a:schemeClr val="bg2"/>
          </a:solidFill>
          <a:ln w="12700">
            <a:solidFill>
              <a:schemeClr val="bg2"/>
            </a:solidFill>
            <a:prstDash val="solid"/>
          </a:ln>
        </p:spPr>
      </p:sp>
      <p:sp>
        <p:nvSpPr>
          <p:cNvPr id="15" name="Tag OKF"/>
          <p:cNvSpPr/>
          <p:nvPr/>
        </p:nvSpPr>
        <p:spPr>
          <a:xfrm>
            <a:off x="6519672" y="2743200"/>
            <a:ext cx="2011680" cy="365760"/>
          </a:xfrm>
          <a:prstGeom prst="roundRect">
            <a:avLst>
              <a:gd name="adj" fmla="val 24000"/>
            </a:avLst>
          </a:prstGeom>
          <a:solidFill>
            <a:schemeClr val="accent1"/>
          </a:solidFill>
          <a:ln w="12700">
            <a:solidFill>
              <a:schemeClr val="accent1"/>
            </a:solidFill>
            <a:prstDash val="solid"/>
          </a:ln>
        </p:spPr>
      </p:sp>
      <p:sp>
        <p:nvSpPr>
          <p:cNvPr id="16" name="Tag text OKF"/>
          <p:cNvSpPr txBox="1"/>
          <p:nvPr/>
        </p:nvSpPr>
        <p:spPr>
          <a:xfrm>
            <a:off x="6519672" y="2743200"/>
            <a:ext cx="2011680" cy="365760"/>
          </a:xfrm>
          <a:prstGeom prst="rect">
            <a:avLst/>
          </a:prstGeom>
          <a:noFill/>
          <a:ln/>
        </p:spPr>
        <p:txBody>
          <a:bodyPr wrap="square" lIns="0" tIns="0" rIns="0" bIns="0" rtlCol="0" anchor="ctr"/>
          <a:lstStyle/>
          <a:p>
            <a:pPr algn="ctr" indent="0" marL="0">
              <a:buNone/>
            </a:pPr>
            <a:r>
              <a:rPr lang="en-US" sz="1600" b="1" dirty="0">
                <a:solidFill>
                  <a:schemeClr val="bg1"/>
                </a:solidFill>
              </a:rPr>
              <a:t>OKF</a:t>
            </a:r>
            <a:endParaRPr lang="en-US" sz="1600" dirty="0"/>
          </a:p>
        </p:txBody>
      </p:sp>
      <p:sp>
        <p:nvSpPr>
          <p:cNvPr id="17" name="Body OKF"/>
          <p:cNvSpPr txBox="1"/>
          <p:nvPr/>
        </p:nvSpPr>
        <p:spPr>
          <a:xfrm>
            <a:off x="6611112" y="3291840"/>
            <a:ext cx="4663440" cy="1828800"/>
          </a:xfrm>
          <a:prstGeom prst="rect">
            <a:avLst/>
          </a:prstGeom>
          <a:noFill/>
          <a:ln/>
        </p:spPr>
        <p:txBody>
          <a:bodyPr wrap="square" lIns="0" tIns="0" rIns="0" bIns="0" rtlCol="0" anchor="t"/>
          <a:lstStyle/>
          <a:p>
            <a:pPr indent="0" marL="0">
              <a:spcAft>
                <a:spcPts val="1200"/>
              </a:spcAft>
              <a:buNone/>
            </a:pPr>
            <a:r>
              <a:rPr lang="en-US" sz="1600" b="1" dirty="0">
                <a:solidFill>
                  <a:schemeClr val="accent1"/>
                </a:solidFill>
              </a:rPr>
              <a:t>Curated: </a:t>
            </a:r>
            <a:r>
              <a:rPr lang="en-US" sz="1600" dirty="0">
                <a:solidFill>
                  <a:schemeClr val="tx1"/>
                </a:solidFill>
              </a:rPr>
              <a:t>The LLM Curator already merged and flagged the active festive discount on the fee schedule page</a:t>
            </a:r>
            <a:endParaRPr lang="en-US" sz="1600" dirty="0"/>
          </a:p>
          <a:p>
            <a:pPr indent="0" marL="0">
              <a:spcAft>
                <a:spcPts val="1200"/>
              </a:spcAft>
              <a:buNone/>
            </a:pPr>
            <a:r>
              <a:rPr lang="en-US" sz="1600" b="1" dirty="0">
                <a:solidFill>
                  <a:schemeClr val="accent1"/>
                </a:solidFill>
              </a:rPr>
              <a:t>Exact answer: </a:t>
            </a:r>
            <a:r>
              <a:rPr lang="en-US" sz="1600" dirty="0">
                <a:solidFill>
                  <a:schemeClr val="tx1"/>
                </a:solidFill>
              </a:rPr>
              <a:t>"Standard fee 3.5%, but under the active Q4 circular, 1.5% applies to your card until December 31."</a:t>
            </a:r>
            <a:endParaRPr lang="en-US" sz="1600" dirty="0"/>
          </a:p>
        </p:txBody>
      </p:sp>
      <p:sp>
        <p:nvSpPr>
          <p:cNvPr id="18" name="Takeaway strip"/>
          <p:cNvSpPr/>
          <p:nvPr/>
        </p:nvSpPr>
        <p:spPr>
          <a:xfrm>
            <a:off x="548640" y="5486400"/>
            <a:ext cx="11091672" cy="685800"/>
          </a:xfrm>
          <a:prstGeom prst="roundRect">
            <a:avLst>
              <a:gd name="adj" fmla="val 16000"/>
            </a:avLst>
          </a:prstGeom>
          <a:solidFill>
            <a:schemeClr val="tx2"/>
          </a:solidFill>
          <a:ln w="12700">
            <a:solidFill>
              <a:schemeClr val="tx2"/>
            </a:solidFill>
            <a:prstDash val="solid"/>
          </a:ln>
        </p:spPr>
      </p:sp>
      <p:sp>
        <p:nvSpPr>
          <p:cNvPr id="19" name="Takeaway text"/>
          <p:cNvSpPr txBox="1"/>
          <p:nvPr/>
        </p:nvSpPr>
        <p:spPr>
          <a:xfrm>
            <a:off x="731520" y="5486400"/>
            <a:ext cx="10698480" cy="685800"/>
          </a:xfrm>
          <a:prstGeom prst="rect">
            <a:avLst/>
          </a:prstGeom>
          <a:noFill/>
          <a:ln/>
        </p:spPr>
        <p:txBody>
          <a:bodyPr wrap="square" lIns="0" tIns="0" rIns="0" bIns="0" rtlCol="0" anchor="ctr"/>
          <a:lstStyle/>
          <a:p>
            <a:pPr indent="0" marL="0">
              <a:buNone/>
            </a:pPr>
            <a:r>
              <a:rPr lang="en-US" sz="1600" b="1" dirty="0">
                <a:solidFill>
                  <a:schemeClr val="accent2"/>
                </a:solidFill>
              </a:rPr>
              <a:t>Takeaway: </a:t>
            </a:r>
            <a:r>
              <a:rPr lang="en-US" sz="1600" b="1" dirty="0">
                <a:solidFill>
                  <a:schemeClr val="bg1"/>
                </a:solidFill>
              </a:rPr>
              <a:t>Where rules change dynamically, a pre-curated single source of truth catches the errors</a:t>
            </a:r>
            <a:endParaRPr lang="en-US" sz="1600" dirty="0"/>
          </a:p>
        </p:txBody>
      </p:sp>
      <p:sp>
        <p:nvSpPr>
          <p:cNvPr id="90" name="Slide Number Placeholder 0"/>
          <p:cNvSpPr>
            <a:spLocks noGrp="1"/>
          </p:cNvSpPr>
          <p:nvPr>
            <p:ph type="sldNum" sz="quarter" idx="4294967295"/>
          </p:nvPr>
        </p:nvSpPr>
        <p:spPr>
          <a:xfrm>
            <a:off x="11064240" y="6400800"/>
            <a:ext cx="576072" cy="274320"/>
          </a:xfrm>
          <a:prstGeom prst="rect">
            <a:avLst/>
          </a:prstGeom>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r large"/>
          <p:cNvSpPr/>
          <p:nvPr/>
        </p:nvSpPr>
        <p:spPr>
          <a:xfrm>
            <a:off x="8778240" y="822960"/>
            <a:ext cx="4206240" cy="4206240"/>
          </a:xfrm>
          <a:prstGeom prst="ellipse">
            <a:avLst/>
          </a:prstGeom>
          <a:solidFill>
            <a:schemeClr val="accent1">
              <a:alpha val="45000"/>
            </a:schemeClr>
          </a:solidFill>
          <a:ln w="12700">
            <a:solidFill>
              <a:schemeClr val="accent1"/>
            </a:solidFill>
            <a:prstDash val="solid"/>
          </a:ln>
        </p:spPr>
      </p:sp>
      <p:sp>
        <p:nvSpPr>
          <p:cNvPr id="3" name="Decor gold"/>
          <p:cNvSpPr/>
          <p:nvPr/>
        </p:nvSpPr>
        <p:spPr>
          <a:xfrm>
            <a:off x="10241280" y="4023360"/>
            <a:ext cx="1737360" cy="1737360"/>
          </a:xfrm>
          <a:prstGeom prst="ellipse">
            <a:avLst/>
          </a:prstGeom>
          <a:solidFill>
            <a:schemeClr val="accent2">
              <a:alpha val="80000"/>
            </a:schemeClr>
          </a:solidFill>
          <a:ln w="12700">
            <a:solidFill>
              <a:schemeClr val="accent2"/>
            </a:solidFill>
            <a:prstDash val="solid"/>
          </a:ln>
        </p:spPr>
      </p:sp>
      <p:sp>
        <p:nvSpPr>
          <p:cNvPr id="4" name="Text 2"/>
          <p:cNvSpPr txBox="1"/>
          <p:nvPr/>
        </p:nvSpPr>
        <p:spPr>
          <a:xfrm>
            <a:off x="731520" y="1097280"/>
            <a:ext cx="7315200" cy="365760"/>
          </a:xfrm>
          <a:prstGeom prst="rect">
            <a:avLst/>
          </a:prstGeom>
          <a:noFill/>
          <a:ln/>
        </p:spPr>
        <p:txBody>
          <a:bodyPr wrap="square" lIns="0" tIns="0" rIns="0" bIns="0" rtlCol="0" anchor="t"/>
          <a:lstStyle/>
          <a:p>
            <a:pPr indent="0" marL="0">
              <a:buNone/>
            </a:pPr>
            <a:r>
              <a:rPr lang="en-US" sz="1400" b="1" spc="300" kern="0" dirty="0">
                <a:solidFill>
                  <a:schemeClr val="accent2"/>
                </a:solidFill>
              </a:rPr>
              <a:t>BOARD BRIEFING  |  AI ARCHITECTURE</a:t>
            </a:r>
            <a:endParaRPr lang="en-US" sz="1400" dirty="0"/>
          </a:p>
        </p:txBody>
      </p:sp>
      <p:sp>
        <p:nvSpPr>
          <p:cNvPr id="5" name="Text 0"/>
          <p:cNvSpPr/>
          <p:nvPr>
            <p:ph idx="100" type="title" hasCustomPrompt="1"/>
          </p:nvPr>
        </p:nvSpPr>
        <p:spPr>
          <a:xfrm>
            <a:off x="731520" y="1737360"/>
            <a:ext cx="8412480" cy="2194560"/>
          </a:xfrm>
          <a:prstGeom prst="rect">
            <a:avLst/>
          </a:prstGeom>
          <a:noFill/>
          <a:ln/>
        </p:spPr>
        <p:txBody>
          <a:bodyPr wrap="square" lIns="0" tIns="0" rIns="0" bIns="0" rtlCol="0" anchor="b"/>
          <a:lstStyle/>
          <a:p>
            <a:pPr algn="l" indent="0" marL="0">
              <a:buNone/>
            </a:pPr>
            <a:r>
              <a:rPr lang="en-US" sz="4400" b="1" dirty="0">
                <a:solidFill>
                  <a:schemeClr val="bg1"/>
                </a:solidFill>
              </a:rPr>
              <a:t>Thank You!</a:t>
            </a:r>
            <a:endParaRPr lang="en-US" sz="4400" dirty="0"/>
          </a:p>
        </p:txBody>
      </p:sp>
      <p:sp>
        <p:nvSpPr>
          <p:cNvPr id="6" name="Text 0"/>
          <p:cNvSpPr/>
          <p:nvPr>
            <p:ph idx="101" type="body" hasCustomPrompt="1"/>
          </p:nvPr>
        </p:nvSpPr>
        <p:spPr>
          <a:xfrm>
            <a:off x="731520" y="4206240"/>
            <a:ext cx="7863840" cy="914400"/>
          </a:xfrm>
          <a:prstGeom prst="rect">
            <a:avLst/>
          </a:prstGeom>
          <a:noFill/>
          <a:ln/>
        </p:spPr>
        <p:txBody>
          <a:bodyPr wrap="square" lIns="0" tIns="0" rIns="0" bIns="0" rtlCol="0" anchor="t"/>
          <a:lstStyle/>
          <a:p>
            <a:pPr algn="l" indent="0" marL="0">
              <a:buNone/>
            </a:pPr>
            <a:r>
              <a:rPr lang="en-US" sz="2000" dirty="0">
                <a:solidFill>
                  <a:schemeClr val="bg2"/>
                </a:solidFill>
              </a:rPr>
              <a:t>Questions &amp; Discussion</a:t>
            </a:r>
            <a:endParaRPr lang="en-US" sz="2000" dirty="0"/>
          </a:p>
        </p:txBody>
      </p:sp>
      <p:sp>
        <p:nvSpPr>
          <p:cNvPr id="20" name="Presenter and date"/>
          <p:cNvSpPr txBox="1"/>
          <p:nvPr/>
        </p:nvSpPr>
        <p:spPr>
          <a:xfrm>
            <a:off x="731520" y="5394960"/>
            <a:ext cx="7863840" cy="731520"/>
          </a:xfrm>
          <a:prstGeom prst="rect">
            <a:avLst/>
          </a:prstGeom>
          <a:noFill/>
          <a:ln/>
        </p:spPr>
        <p:txBody>
          <a:bodyPr wrap="square" lIns="0" tIns="0" rIns="0" bIns="0" rtlCol="0" anchor="t"/>
          <a:lstStyle/>
          <a:p>
            <a:pPr indent="0" marL="0">
              <a:spcAft>
                <a:spcPts val="400"/>
              </a:spcAft>
              <a:buNone/>
            </a:pPr>
            <a:r>
              <a:rPr lang="en-US" sz="1600" b="1" dirty="0">
                <a:solidFill>
                  <a:schemeClr val="accent2"/>
                </a:solidFill>
              </a:rPr>
              <a:t>Presented by: </a:t>
            </a:r>
            <a:r>
              <a:rPr lang="en-US" sz="1600" dirty="0">
                <a:solidFill>
                  <a:schemeClr val="bg1"/>
                </a:solidFill>
              </a:rPr>
              <a:t>Rajesh Reddy Bommineni</a:t>
            </a:r>
            <a:endParaRPr lang="en-US" sz="1600" dirty="0"/>
          </a:p>
          <a:p>
            <a:pPr indent="0" marL="0">
              <a:buNone/>
            </a:pPr>
            <a:r>
              <a:rPr lang="en-US" sz="1600" b="1" dirty="0">
                <a:solidFill>
                  <a:schemeClr val="accent2"/>
                </a:solidFill>
              </a:rPr>
              <a:t>Date: </a:t>
            </a:r>
            <a:r>
              <a:rPr lang="en-US" sz="1600" dirty="0">
                <a:solidFill>
                  <a:schemeClr val="bg1"/>
                </a:solidFill>
              </a:rPr>
              <a:t>31/10/2026</a:t>
            </a:r>
            <a:endParaRPr lang="en-US" sz="1600" dirty="0"/>
          </a:p>
        </p:txBody>
      </p:sp>
    </p:spTree>
  </p:cSld>
  <p:clrMapOvr>
    <a:masterClrMapping/>
  </p:clrMapOvr>
</p:sld>
</file>

<file path=ppt/theme/theme1.xml><?xml version="1.0" encoding="utf-8"?>
<a:theme xmlns:a="http://schemas.openxmlformats.org/drawingml/2006/main" name="Banking Memory">
  <a:themeElements>
    <a:clrScheme name="Banking Memory">
      <a:dk1>
        <a:srgbClr val="1F2933"/>
      </a:dk1>
      <a:lt1>
        <a:srgbClr val="FFFFFF"/>
      </a:lt1>
      <a:dk2>
        <a:srgbClr val="0B3C49"/>
      </a:dk2>
      <a:lt2>
        <a:srgbClr val="EAF1F3"/>
      </a:lt2>
      <a:accent1>
        <a:srgbClr val="0F766E"/>
      </a:accent1>
      <a:accent2>
        <a:srgbClr val="E0A526"/>
      </a:accent2>
      <a:accent3>
        <a:srgbClr val="B94A1E"/>
      </a:accent3>
      <a:accent4>
        <a:srgbClr val="4B6A7A"/>
      </a:accent4>
      <a:accent5>
        <a:srgbClr val="7C9885"/>
      </a:accent5>
      <a:accent6>
        <a:srgbClr val="8A98A3"/>
      </a:accent6>
      <a:hlink>
        <a:srgbClr val="0F766E"/>
      </a:hlink>
      <a:folHlink>
        <a:srgbClr val="4B6A7A"/>
      </a:folHlink>
    </a:clrScheme>
    <a:fontScheme name="Banking Mem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Google OKF vs. RAG: Is This the Future of AI Memory?</dc:title>
  <dc:subject>PptxGenJS Presentation</dc:subject>
  <dc:creator>PptxGenJS</dc:creator>
  <cp:lastModifiedBy>PptxGenJS</cp:lastModifiedBy>
  <cp:revision>1</cp:revision>
  <dcterms:created xsi:type="dcterms:W3CDTF">2026-10-29T13:48:04Z</dcterms:created>
  <dcterms:modified xsi:type="dcterms:W3CDTF">2026-10-29T13:48:04Z</dcterms:modified>
</cp:coreProperties>
</file>